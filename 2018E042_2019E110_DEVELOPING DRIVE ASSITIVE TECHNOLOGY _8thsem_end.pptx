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chivo Black" panose="020B0604020202020204" charset="0"/>
      <p:regular r:id="rId23"/>
    </p:embeddedFont>
    <p:embeddedFont>
      <p:font typeface="Arimo" panose="020B0604020202020204" charset="0"/>
      <p:regular r:id="rId24"/>
    </p:embeddedFont>
    <p:embeddedFont>
      <p:font typeface="Arimo Bold" panose="020B0604020202020204" charset="0"/>
      <p:regular r:id="rId25"/>
    </p:embeddedFont>
    <p:embeddedFont>
      <p:font typeface="Trebuchet MS" panose="020B0603020202020204" pitchFamily="34" charset="0"/>
      <p:regular r:id="rId26"/>
      <p:bold r:id="rId27"/>
      <p:italic r:id="rId28"/>
      <p:boldItalic r:id="rId29"/>
    </p:embeddedFont>
    <p:embeddedFont>
      <p:font typeface="TT Rounds Condensed" panose="020B0604020202020204" charset="0"/>
      <p:regular r:id="rId30"/>
    </p:embeddedFont>
    <p:embeddedFont>
      <p:font typeface="TT Rounds Condensed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14.08.2024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CUDA – COMPUTE UNIFIED DEVICE ARCHITECTURE</a:t>
            </a:r>
          </a:p>
          <a:p>
            <a:r>
              <a:rPr lang="en-US"/>
              <a:t>ITA S PARALLEL COMPUTING PLATFORM AND PROGRAMMING MODEL FOR GPU. IT ALLOW FOR GENERAL PURPOSE USES.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image" Target="../media/image1.jpe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20.jpeg"/><Relationship Id="rId4" Type="http://schemas.openxmlformats.org/officeDocument/2006/relationships/image" Target="../media/image14.pn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29.pn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jpeg"/><Relationship Id="rId15" Type="http://schemas.openxmlformats.org/officeDocument/2006/relationships/image" Target="../media/image41.svg"/><Relationship Id="rId10" Type="http://schemas.openxmlformats.org/officeDocument/2006/relationships/image" Target="../media/image36.png"/><Relationship Id="rId4" Type="http://schemas.openxmlformats.org/officeDocument/2006/relationships/image" Target="../media/image30.svg"/><Relationship Id="rId9" Type="http://schemas.openxmlformats.org/officeDocument/2006/relationships/image" Target="../media/image35.svg"/><Relationship Id="rId14" Type="http://schemas.openxmlformats.org/officeDocument/2006/relationships/image" Target="../media/image40.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29.pn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jpeg"/><Relationship Id="rId15" Type="http://schemas.openxmlformats.org/officeDocument/2006/relationships/image" Target="../media/image41.svg"/><Relationship Id="rId10" Type="http://schemas.openxmlformats.org/officeDocument/2006/relationships/image" Target="../media/image36.png"/><Relationship Id="rId4" Type="http://schemas.openxmlformats.org/officeDocument/2006/relationships/image" Target="../media/image30.svg"/><Relationship Id="rId9" Type="http://schemas.openxmlformats.org/officeDocument/2006/relationships/image" Target="../media/image35.svg"/><Relationship Id="rId14"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1.sv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jpeg"/><Relationship Id="rId4" Type="http://schemas.openxmlformats.org/officeDocument/2006/relationships/image" Target="../media/image45.sv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3.png"/><Relationship Id="rId4" Type="http://schemas.openxmlformats.org/officeDocument/2006/relationships/image" Target="../media/image45.svg"/><Relationship Id="rId9" Type="http://schemas.openxmlformats.org/officeDocument/2006/relationships/image" Target="../media/image52.jpeg"/></Relationships>
</file>

<file path=ppt/slides/_rels/slide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7.jpeg"/><Relationship Id="rId4" Type="http://schemas.openxmlformats.org/officeDocument/2006/relationships/image" Target="../media/image45.svg"/><Relationship Id="rId9" Type="http://schemas.openxmlformats.org/officeDocument/2006/relationships/image" Target="../media/image56.jpeg"/></Relationships>
</file>

<file path=ppt/slides/_rels/slide11.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7.svg"/><Relationship Id="rId11" Type="http://schemas.openxmlformats.org/officeDocument/2006/relationships/image" Target="../media/image60.png"/><Relationship Id="rId5" Type="http://schemas.openxmlformats.org/officeDocument/2006/relationships/image" Target="../media/image46.png"/><Relationship Id="rId10" Type="http://schemas.openxmlformats.org/officeDocument/2006/relationships/image" Target="../media/image59.png"/><Relationship Id="rId4" Type="http://schemas.openxmlformats.org/officeDocument/2006/relationships/image" Target="../media/image45.svg"/><Relationship Id="rId9" Type="http://schemas.openxmlformats.org/officeDocument/2006/relationships/image" Target="../media/image58.png"/></Relationships>
</file>

<file path=ppt/slides/_rels/slide1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 Id="rId9" Type="http://schemas.openxmlformats.org/officeDocument/2006/relationships/image" Target="../media/image62.jpeg"/></Relationships>
</file>

<file path=ppt/slides/_rels/slide14.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1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 Id="rId9" Type="http://schemas.openxmlformats.org/officeDocument/2006/relationships/image" Target="../media/image63.tmp"/></Relationships>
</file>

<file path=ppt/slides/_rels/slide16.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svg"/><Relationship Id="rId18" Type="http://schemas.openxmlformats.org/officeDocument/2006/relationships/image" Target="../media/image80.png"/><Relationship Id="rId3" Type="http://schemas.openxmlformats.org/officeDocument/2006/relationships/image" Target="../media/image65.svg"/><Relationship Id="rId7" Type="http://schemas.openxmlformats.org/officeDocument/2006/relationships/image" Target="../media/image69.svg"/><Relationship Id="rId12" Type="http://schemas.openxmlformats.org/officeDocument/2006/relationships/image" Target="../media/image74.png"/><Relationship Id="rId17" Type="http://schemas.openxmlformats.org/officeDocument/2006/relationships/image" Target="../media/image79.svg"/><Relationship Id="rId2" Type="http://schemas.openxmlformats.org/officeDocument/2006/relationships/image" Target="../media/image64.png"/><Relationship Id="rId16" Type="http://schemas.openxmlformats.org/officeDocument/2006/relationships/image" Target="../media/image78.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image" Target="../media/image73.svg"/><Relationship Id="rId5" Type="http://schemas.openxmlformats.org/officeDocument/2006/relationships/image" Target="../media/image67.svg"/><Relationship Id="rId15" Type="http://schemas.openxmlformats.org/officeDocument/2006/relationships/image" Target="../media/image77.svg"/><Relationship Id="rId10" Type="http://schemas.openxmlformats.org/officeDocument/2006/relationships/image" Target="../media/image72.png"/><Relationship Id="rId19" Type="http://schemas.openxmlformats.org/officeDocument/2006/relationships/image" Target="../media/image81.svg"/><Relationship Id="rId4" Type="http://schemas.openxmlformats.org/officeDocument/2006/relationships/image" Target="../media/image66.png"/><Relationship Id="rId9" Type="http://schemas.openxmlformats.org/officeDocument/2006/relationships/image" Target="../media/image71.svg"/><Relationship Id="rId14" Type="http://schemas.openxmlformats.org/officeDocument/2006/relationships/image" Target="../media/image7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19.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20.xml.rels><?xml version="1.0" encoding="UTF-8" standalone="yes"?>
<Relationships xmlns="http://schemas.openxmlformats.org/package/2006/relationships"><Relationship Id="rId8" Type="http://schemas.openxmlformats.org/officeDocument/2006/relationships/image" Target="../media/image82.jpe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svg"/><Relationship Id="rId10" Type="http://schemas.openxmlformats.org/officeDocument/2006/relationships/image" Target="../media/image9.svg"/><Relationship Id="rId4" Type="http://schemas.openxmlformats.org/officeDocument/2006/relationships/image" Target="../media/image4.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9205311" y="589087"/>
            <a:ext cx="9071803" cy="7328944"/>
          </a:xfrm>
          <a:custGeom>
            <a:avLst/>
            <a:gdLst/>
            <a:ahLst/>
            <a:cxnLst/>
            <a:rect l="l" t="t" r="r" b="b"/>
            <a:pathLst>
              <a:path w="9071803" h="7328944">
                <a:moveTo>
                  <a:pt x="0" y="0"/>
                </a:moveTo>
                <a:lnTo>
                  <a:pt x="9071803" y="0"/>
                </a:lnTo>
                <a:lnTo>
                  <a:pt x="9071803" y="7328944"/>
                </a:lnTo>
                <a:lnTo>
                  <a:pt x="0" y="7328944"/>
                </a:lnTo>
                <a:lnTo>
                  <a:pt x="0" y="0"/>
                </a:lnTo>
                <a:close/>
              </a:path>
            </a:pathLst>
          </a:custGeom>
          <a:blipFill>
            <a:blip r:embed="rId3"/>
            <a:stretch>
              <a:fillRect/>
            </a:stretch>
          </a:blipFill>
        </p:spPr>
      </p:sp>
      <p:sp>
        <p:nvSpPr>
          <p:cNvPr id="12" name="Freeform 12"/>
          <p:cNvSpPr/>
          <p:nvPr/>
        </p:nvSpPr>
        <p:spPr>
          <a:xfrm>
            <a:off x="8248833" y="6386791"/>
            <a:ext cx="3673702" cy="3503822"/>
          </a:xfrm>
          <a:custGeom>
            <a:avLst/>
            <a:gdLst/>
            <a:ahLst/>
            <a:cxnLst/>
            <a:rect l="l" t="t" r="r" b="b"/>
            <a:pathLst>
              <a:path w="3673702" h="3503822">
                <a:moveTo>
                  <a:pt x="0" y="0"/>
                </a:moveTo>
                <a:lnTo>
                  <a:pt x="3673702" y="0"/>
                </a:lnTo>
                <a:lnTo>
                  <a:pt x="3673702" y="3503821"/>
                </a:lnTo>
                <a:lnTo>
                  <a:pt x="0" y="350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8727286" y="6956078"/>
            <a:ext cx="2716795" cy="2576441"/>
          </a:xfrm>
          <a:custGeom>
            <a:avLst/>
            <a:gdLst/>
            <a:ahLst/>
            <a:cxnLst/>
            <a:rect l="l" t="t" r="r" b="b"/>
            <a:pathLst>
              <a:path w="2716795" h="2576441">
                <a:moveTo>
                  <a:pt x="0" y="0"/>
                </a:moveTo>
                <a:lnTo>
                  <a:pt x="2716795" y="0"/>
                </a:lnTo>
                <a:lnTo>
                  <a:pt x="2716795" y="2576441"/>
                </a:lnTo>
                <a:lnTo>
                  <a:pt x="0" y="25764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16372760" y="5953077"/>
            <a:ext cx="1773080" cy="1681479"/>
          </a:xfrm>
          <a:custGeom>
            <a:avLst/>
            <a:gdLst/>
            <a:ahLst/>
            <a:cxnLst/>
            <a:rect l="l" t="t" r="r" b="b"/>
            <a:pathLst>
              <a:path w="1773080" h="1681479">
                <a:moveTo>
                  <a:pt x="0" y="0"/>
                </a:moveTo>
                <a:lnTo>
                  <a:pt x="1773080" y="0"/>
                </a:lnTo>
                <a:lnTo>
                  <a:pt x="1773080" y="1681479"/>
                </a:lnTo>
                <a:lnTo>
                  <a:pt x="0" y="16814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a:off x="16331863" y="1507578"/>
            <a:ext cx="779769" cy="743711"/>
          </a:xfrm>
          <a:custGeom>
            <a:avLst/>
            <a:gdLst/>
            <a:ahLst/>
            <a:cxnLst/>
            <a:rect l="l" t="t" r="r" b="b"/>
            <a:pathLst>
              <a:path w="779769" h="743711">
                <a:moveTo>
                  <a:pt x="0" y="0"/>
                </a:moveTo>
                <a:lnTo>
                  <a:pt x="779769" y="0"/>
                </a:lnTo>
                <a:lnTo>
                  <a:pt x="779769" y="743711"/>
                </a:lnTo>
                <a:lnTo>
                  <a:pt x="0" y="7437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16514919" y="8032601"/>
            <a:ext cx="744380" cy="705924"/>
          </a:xfrm>
          <a:custGeom>
            <a:avLst/>
            <a:gdLst/>
            <a:ahLst/>
            <a:cxnLst/>
            <a:rect l="l" t="t" r="r" b="b"/>
            <a:pathLst>
              <a:path w="744380" h="705924">
                <a:moveTo>
                  <a:pt x="0" y="0"/>
                </a:moveTo>
                <a:lnTo>
                  <a:pt x="744380" y="0"/>
                </a:lnTo>
                <a:lnTo>
                  <a:pt x="744380" y="705924"/>
                </a:lnTo>
                <a:lnTo>
                  <a:pt x="0" y="7059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7" name="TextBox 17"/>
          <p:cNvSpPr txBox="1"/>
          <p:nvPr/>
        </p:nvSpPr>
        <p:spPr>
          <a:xfrm>
            <a:off x="746457" y="284903"/>
            <a:ext cx="10073943" cy="5600214"/>
          </a:xfrm>
          <a:prstGeom prst="rect">
            <a:avLst/>
          </a:prstGeom>
        </p:spPr>
        <p:txBody>
          <a:bodyPr lIns="0" tIns="0" rIns="0" bIns="0" rtlCol="0" anchor="t">
            <a:spAutoFit/>
          </a:bodyPr>
          <a:lstStyle/>
          <a:p>
            <a:pPr algn="l">
              <a:lnSpc>
                <a:spcPts val="10502"/>
              </a:lnSpc>
            </a:pPr>
            <a:r>
              <a:rPr lang="en-US" sz="5834" spc="-65">
                <a:solidFill>
                  <a:srgbClr val="CD0505"/>
                </a:solidFill>
                <a:latin typeface="Arimo Bold"/>
                <a:ea typeface="Arimo Bold"/>
                <a:cs typeface="Arimo Bold"/>
                <a:sym typeface="Arimo Bold"/>
              </a:rPr>
              <a:t>DEVELOPING DRIVER</a:t>
            </a:r>
            <a:r>
              <a:rPr lang="en-US" sz="5834" spc="-65">
                <a:solidFill>
                  <a:srgbClr val="000000"/>
                </a:solidFill>
                <a:latin typeface="Arimo Bold"/>
                <a:ea typeface="Arimo Bold"/>
                <a:cs typeface="Arimo Bold"/>
                <a:sym typeface="Arimo Bold"/>
              </a:rPr>
              <a:t> ASSISTIVE SYSTEM USING</a:t>
            </a:r>
          </a:p>
          <a:p>
            <a:pPr algn="l">
              <a:lnSpc>
                <a:spcPts val="10502"/>
              </a:lnSpc>
            </a:pPr>
            <a:r>
              <a:rPr lang="en-US" sz="5834" spc="-65">
                <a:solidFill>
                  <a:srgbClr val="CD0505"/>
                </a:solidFill>
                <a:latin typeface="Arimo Bold"/>
                <a:ea typeface="Arimo Bold"/>
                <a:cs typeface="Arimo Bold"/>
                <a:sym typeface="Arimo Bold"/>
              </a:rPr>
              <a:t>NVIDIA JETSON DEVELOPMENT BOARD   </a:t>
            </a:r>
          </a:p>
        </p:txBody>
      </p:sp>
      <p:sp>
        <p:nvSpPr>
          <p:cNvPr id="18" name="TextBox 18"/>
          <p:cNvSpPr txBox="1"/>
          <p:nvPr/>
        </p:nvSpPr>
        <p:spPr>
          <a:xfrm>
            <a:off x="889903" y="6589851"/>
            <a:ext cx="8507318" cy="758525"/>
          </a:xfrm>
          <a:prstGeom prst="rect">
            <a:avLst/>
          </a:prstGeom>
        </p:spPr>
        <p:txBody>
          <a:bodyPr lIns="0" tIns="0" rIns="0" bIns="0" rtlCol="0" anchor="t">
            <a:spAutoFit/>
          </a:bodyPr>
          <a:lstStyle/>
          <a:p>
            <a:pPr algn="l">
              <a:lnSpc>
                <a:spcPts val="2940"/>
              </a:lnSpc>
            </a:pPr>
            <a:r>
              <a:rPr lang="en-US" sz="2100">
                <a:solidFill>
                  <a:srgbClr val="CD0505"/>
                </a:solidFill>
                <a:latin typeface="Arimo"/>
                <a:ea typeface="Arimo"/>
                <a:cs typeface="Arimo"/>
                <a:sym typeface="Arimo"/>
              </a:rPr>
              <a:t>PRINCIPAL SUPERVISOR</a:t>
            </a:r>
            <a:r>
              <a:rPr lang="en-US" sz="2100">
                <a:solidFill>
                  <a:srgbClr val="000000"/>
                </a:solidFill>
                <a:latin typeface="Arimo"/>
                <a:ea typeface="Arimo"/>
                <a:cs typeface="Arimo"/>
                <a:sym typeface="Arimo"/>
              </a:rPr>
              <a:t> - Prof. K. AHILAN</a:t>
            </a:r>
          </a:p>
          <a:p>
            <a:pPr algn="l">
              <a:lnSpc>
                <a:spcPts val="2940"/>
              </a:lnSpc>
            </a:pPr>
            <a:r>
              <a:rPr lang="en-US" sz="2100">
                <a:solidFill>
                  <a:srgbClr val="CD0505"/>
                </a:solidFill>
                <a:latin typeface="Arimo"/>
                <a:ea typeface="Arimo"/>
                <a:cs typeface="Arimo"/>
                <a:sym typeface="Arimo"/>
              </a:rPr>
              <a:t>ASSOCIATE SUPERVISOR</a:t>
            </a:r>
            <a:r>
              <a:rPr lang="en-US" sz="2100">
                <a:solidFill>
                  <a:srgbClr val="000000"/>
                </a:solidFill>
                <a:latin typeface="Arimo"/>
                <a:ea typeface="Arimo"/>
                <a:cs typeface="Arimo"/>
                <a:sym typeface="Arimo"/>
              </a:rPr>
              <a:t> – ENG. R. VALLUWAN</a:t>
            </a:r>
          </a:p>
        </p:txBody>
      </p:sp>
      <p:sp>
        <p:nvSpPr>
          <p:cNvPr id="19" name="TextBox 19"/>
          <p:cNvSpPr txBox="1"/>
          <p:nvPr/>
        </p:nvSpPr>
        <p:spPr>
          <a:xfrm>
            <a:off x="1028700" y="8467290"/>
            <a:ext cx="8507318" cy="757371"/>
          </a:xfrm>
          <a:prstGeom prst="rect">
            <a:avLst/>
          </a:prstGeom>
        </p:spPr>
        <p:txBody>
          <a:bodyPr lIns="0" tIns="0" rIns="0" bIns="0" rtlCol="0" anchor="t">
            <a:spAutoFit/>
          </a:bodyPr>
          <a:lstStyle/>
          <a:p>
            <a:pPr algn="l">
              <a:lnSpc>
                <a:spcPts val="2940"/>
              </a:lnSpc>
            </a:pPr>
            <a:r>
              <a:rPr lang="en-US" sz="2100" spc="-23">
                <a:solidFill>
                  <a:srgbClr val="000000"/>
                </a:solidFill>
                <a:latin typeface="Arimo Bold"/>
                <a:ea typeface="Arimo Bold"/>
                <a:cs typeface="Arimo Bold"/>
                <a:sym typeface="Arimo Bold"/>
              </a:rPr>
              <a:t>HERATH H.P.H.N. – 2018/E/042</a:t>
            </a:r>
          </a:p>
          <a:p>
            <a:pPr algn="l">
              <a:lnSpc>
                <a:spcPts val="2940"/>
              </a:lnSpc>
            </a:pPr>
            <a:r>
              <a:rPr lang="en-US" sz="2100" spc="-23">
                <a:solidFill>
                  <a:srgbClr val="000000"/>
                </a:solidFill>
                <a:latin typeface="Arimo Bold"/>
                <a:ea typeface="Arimo Bold"/>
                <a:cs typeface="Arimo Bold"/>
                <a:sym typeface="Arimo Bold"/>
              </a:rPr>
              <a:t>RATHNAYAKE R.M.S.U. – 2019/E/110</a:t>
            </a:r>
          </a:p>
        </p:txBody>
      </p:sp>
      <p:sp>
        <p:nvSpPr>
          <p:cNvPr id="20" name="TextBox 20"/>
          <p:cNvSpPr txBox="1"/>
          <p:nvPr/>
        </p:nvSpPr>
        <p:spPr>
          <a:xfrm>
            <a:off x="1028700" y="7899251"/>
            <a:ext cx="8507318" cy="1070870"/>
          </a:xfrm>
          <a:prstGeom prst="rect">
            <a:avLst/>
          </a:prstGeom>
        </p:spPr>
        <p:txBody>
          <a:bodyPr lIns="0" tIns="0" rIns="0" bIns="0" rtlCol="0" anchor="t">
            <a:spAutoFit/>
          </a:bodyPr>
          <a:lstStyle/>
          <a:p>
            <a:pPr algn="l">
              <a:lnSpc>
                <a:spcPts val="3975"/>
              </a:lnSpc>
            </a:pPr>
            <a:r>
              <a:rPr lang="en-US" sz="2839">
                <a:solidFill>
                  <a:srgbClr val="CD0505"/>
                </a:solidFill>
                <a:latin typeface="Arimo"/>
                <a:ea typeface="Arimo"/>
                <a:cs typeface="Arimo"/>
                <a:sym typeface="Arimo"/>
              </a:rPr>
              <a:t>GROUP MEMBERS:</a:t>
            </a:r>
          </a:p>
          <a:p>
            <a:pPr algn="l">
              <a:lnSpc>
                <a:spcPts val="3975"/>
              </a:lnSpc>
            </a:pPr>
            <a:endParaRPr lang="en-US" sz="2839">
              <a:solidFill>
                <a:srgbClr val="CD0505"/>
              </a:solidFill>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TextBox 11"/>
          <p:cNvSpPr txBox="1"/>
          <p:nvPr/>
        </p:nvSpPr>
        <p:spPr>
          <a:xfrm>
            <a:off x="11818898" y="797935"/>
            <a:ext cx="3268702" cy="631676"/>
          </a:xfrm>
          <a:prstGeom prst="rect">
            <a:avLst/>
          </a:prstGeom>
        </p:spPr>
        <p:txBody>
          <a:bodyPr lIns="0" tIns="0" rIns="0" bIns="0" rtlCol="0" anchor="t">
            <a:spAutoFit/>
          </a:bodyPr>
          <a:lstStyle/>
          <a:p>
            <a:pPr algn="r">
              <a:lnSpc>
                <a:spcPts val="5040"/>
              </a:lnSpc>
            </a:pPr>
            <a:r>
              <a:rPr lang="en-US" sz="4400" u="sng" spc="8">
                <a:solidFill>
                  <a:srgbClr val="CD0505"/>
                </a:solidFill>
                <a:latin typeface="Archivo Black"/>
                <a:ea typeface="Archivo Black"/>
                <a:cs typeface="Archivo Black"/>
                <a:sym typeface="Archivo Black"/>
              </a:rPr>
              <a:t>CONTENT</a:t>
            </a:r>
          </a:p>
        </p:txBody>
      </p:sp>
      <p:sp>
        <p:nvSpPr>
          <p:cNvPr id="12" name="Freeform 12"/>
          <p:cNvSpPr/>
          <p:nvPr/>
        </p:nvSpPr>
        <p:spPr>
          <a:xfrm>
            <a:off x="-1788053" y="-2061326"/>
            <a:ext cx="5735948" cy="4974202"/>
          </a:xfrm>
          <a:custGeom>
            <a:avLst/>
            <a:gdLst/>
            <a:ahLst/>
            <a:cxnLst/>
            <a:rect l="l" t="t" r="r" b="b"/>
            <a:pathLst>
              <a:path w="5735948" h="4974202">
                <a:moveTo>
                  <a:pt x="0" y="0"/>
                </a:moveTo>
                <a:lnTo>
                  <a:pt x="5735948" y="0"/>
                </a:lnTo>
                <a:lnTo>
                  <a:pt x="5735948" y="4974202"/>
                </a:lnTo>
                <a:lnTo>
                  <a:pt x="0" y="49742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3233643" y="6648340"/>
            <a:ext cx="1908880" cy="1706348"/>
          </a:xfrm>
          <a:custGeom>
            <a:avLst/>
            <a:gdLst/>
            <a:ahLst/>
            <a:cxnLst/>
            <a:rect l="l" t="t" r="r" b="b"/>
            <a:pathLst>
              <a:path w="1908880" h="1706348">
                <a:moveTo>
                  <a:pt x="0" y="0"/>
                </a:moveTo>
                <a:lnTo>
                  <a:pt x="1908879" y="0"/>
                </a:lnTo>
                <a:lnTo>
                  <a:pt x="1908879" y="1706347"/>
                </a:lnTo>
                <a:lnTo>
                  <a:pt x="0" y="17063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5086179" y="1924030"/>
            <a:ext cx="1908880" cy="1706348"/>
          </a:xfrm>
          <a:custGeom>
            <a:avLst/>
            <a:gdLst/>
            <a:ahLst/>
            <a:cxnLst/>
            <a:rect l="l" t="t" r="r" b="b"/>
            <a:pathLst>
              <a:path w="1908880" h="1706348">
                <a:moveTo>
                  <a:pt x="0" y="0"/>
                </a:moveTo>
                <a:lnTo>
                  <a:pt x="1908879" y="0"/>
                </a:lnTo>
                <a:lnTo>
                  <a:pt x="1908879" y="1706347"/>
                </a:lnTo>
                <a:lnTo>
                  <a:pt x="0" y="17063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7450532" y="5733940"/>
            <a:ext cx="1908880" cy="1706348"/>
          </a:xfrm>
          <a:custGeom>
            <a:avLst/>
            <a:gdLst/>
            <a:ahLst/>
            <a:cxnLst/>
            <a:rect l="l" t="t" r="r" b="b"/>
            <a:pathLst>
              <a:path w="1908880" h="1706348">
                <a:moveTo>
                  <a:pt x="0" y="0"/>
                </a:moveTo>
                <a:lnTo>
                  <a:pt x="1908879" y="0"/>
                </a:lnTo>
                <a:lnTo>
                  <a:pt x="1908879" y="1706347"/>
                </a:lnTo>
                <a:lnTo>
                  <a:pt x="0" y="17063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079921" y="8664300"/>
            <a:ext cx="954776" cy="827980"/>
          </a:xfrm>
          <a:custGeom>
            <a:avLst/>
            <a:gdLst/>
            <a:ahLst/>
            <a:cxnLst/>
            <a:rect l="l" t="t" r="r" b="b"/>
            <a:pathLst>
              <a:path w="954776" h="827980">
                <a:moveTo>
                  <a:pt x="0" y="0"/>
                </a:moveTo>
                <a:lnTo>
                  <a:pt x="954776" y="0"/>
                </a:lnTo>
                <a:lnTo>
                  <a:pt x="954776" y="827980"/>
                </a:lnTo>
                <a:lnTo>
                  <a:pt x="0" y="8279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a:off x="4075067" y="582054"/>
            <a:ext cx="831924" cy="721442"/>
          </a:xfrm>
          <a:custGeom>
            <a:avLst/>
            <a:gdLst/>
            <a:ahLst/>
            <a:cxnLst/>
            <a:rect l="l" t="t" r="r" b="b"/>
            <a:pathLst>
              <a:path w="831924" h="721442">
                <a:moveTo>
                  <a:pt x="0" y="0"/>
                </a:moveTo>
                <a:lnTo>
                  <a:pt x="831924" y="0"/>
                </a:lnTo>
                <a:lnTo>
                  <a:pt x="831924" y="721442"/>
                </a:lnTo>
                <a:lnTo>
                  <a:pt x="0" y="72144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Freeform 18"/>
          <p:cNvSpPr/>
          <p:nvPr/>
        </p:nvSpPr>
        <p:spPr>
          <a:xfrm>
            <a:off x="16960904" y="13937"/>
            <a:ext cx="831924" cy="721442"/>
          </a:xfrm>
          <a:custGeom>
            <a:avLst/>
            <a:gdLst/>
            <a:ahLst/>
            <a:cxnLst/>
            <a:rect l="l" t="t" r="r" b="b"/>
            <a:pathLst>
              <a:path w="831924" h="721442">
                <a:moveTo>
                  <a:pt x="0" y="0"/>
                </a:moveTo>
                <a:lnTo>
                  <a:pt x="831924" y="0"/>
                </a:lnTo>
                <a:lnTo>
                  <a:pt x="831924" y="721442"/>
                </a:lnTo>
                <a:lnTo>
                  <a:pt x="0" y="72144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a:off x="403986" y="2417720"/>
            <a:ext cx="7599810" cy="4559886"/>
          </a:xfrm>
          <a:custGeom>
            <a:avLst/>
            <a:gdLst/>
            <a:ahLst/>
            <a:cxnLst/>
            <a:rect l="l" t="t" r="r" b="b"/>
            <a:pathLst>
              <a:path w="7599810" h="4559886">
                <a:moveTo>
                  <a:pt x="0" y="0"/>
                </a:moveTo>
                <a:lnTo>
                  <a:pt x="7599810" y="0"/>
                </a:lnTo>
                <a:lnTo>
                  <a:pt x="7599810" y="4559886"/>
                </a:lnTo>
                <a:lnTo>
                  <a:pt x="0" y="4559886"/>
                </a:lnTo>
                <a:lnTo>
                  <a:pt x="0" y="0"/>
                </a:lnTo>
                <a:close/>
              </a:path>
            </a:pathLst>
          </a:custGeom>
          <a:blipFill>
            <a:blip r:embed="rId10"/>
            <a:stretch>
              <a:fillRect/>
            </a:stretch>
          </a:blipFill>
        </p:spPr>
      </p:sp>
      <p:sp>
        <p:nvSpPr>
          <p:cNvPr id="20" name="TextBox 20"/>
          <p:cNvSpPr txBox="1"/>
          <p:nvPr/>
        </p:nvSpPr>
        <p:spPr>
          <a:xfrm>
            <a:off x="9885675" y="1718961"/>
            <a:ext cx="7042999" cy="7216095"/>
          </a:xfrm>
          <a:prstGeom prst="rect">
            <a:avLst/>
          </a:prstGeom>
        </p:spPr>
        <p:txBody>
          <a:bodyPr lIns="0" tIns="0" rIns="0" bIns="0" rtlCol="0" anchor="t">
            <a:spAutoFit/>
          </a:bodyPr>
          <a:lstStyle/>
          <a:p>
            <a:pPr marL="693816" lvl="2" indent="-231272" algn="just">
              <a:lnSpc>
                <a:spcPts val="6009"/>
              </a:lnSpc>
              <a:buFont typeface="Arial"/>
              <a:buChar char="⚬"/>
            </a:pPr>
            <a:r>
              <a:rPr lang="en-US" sz="3600" spc="33">
                <a:solidFill>
                  <a:srgbClr val="000000"/>
                </a:solidFill>
                <a:latin typeface="TT Rounds Condensed"/>
                <a:ea typeface="TT Rounds Condensed"/>
                <a:cs typeface="TT Rounds Condensed"/>
                <a:sym typeface="TT Rounds Condensed"/>
              </a:rPr>
              <a:t>INTRODUCTION </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PROBLEM STATEMENT</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OBJECTIVES </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SCOPE</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RESEARCH GAP</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PROGRESS</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METHODOLOGY</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CHALLENGES &amp; SOLUTIONS</a:t>
            </a:r>
          </a:p>
          <a:p>
            <a:pPr marL="703033" lvl="2" indent="-234344" algn="just">
              <a:lnSpc>
                <a:spcPts val="6222"/>
              </a:lnSpc>
              <a:buFont typeface="Arial"/>
              <a:buChar char="⚬"/>
            </a:pPr>
            <a:r>
              <a:rPr lang="en-US" sz="3600" spc="33">
                <a:solidFill>
                  <a:srgbClr val="000000"/>
                </a:solidFill>
                <a:latin typeface="TT Rounds Condensed"/>
                <a:ea typeface="TT Rounds Condensed"/>
                <a:cs typeface="TT Rounds Condensed"/>
                <a:sym typeface="TT Rounds Condensed"/>
              </a:rPr>
              <a:t>TIMELINE</a:t>
            </a:r>
          </a:p>
        </p:txBody>
      </p:sp>
      <p:sp>
        <p:nvSpPr>
          <p:cNvPr id="21" name="TextBox 21"/>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02</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4005082" y="381312"/>
            <a:ext cx="4282919" cy="4061656"/>
          </a:xfrm>
          <a:custGeom>
            <a:avLst/>
            <a:gdLst/>
            <a:ahLst/>
            <a:cxnLst/>
            <a:rect l="l" t="t" r="r" b="b"/>
            <a:pathLst>
              <a:path w="4282919" h="4061656">
                <a:moveTo>
                  <a:pt x="0" y="0"/>
                </a:moveTo>
                <a:lnTo>
                  <a:pt x="4282918" y="0"/>
                </a:lnTo>
                <a:lnTo>
                  <a:pt x="4282918" y="4061657"/>
                </a:lnTo>
                <a:lnTo>
                  <a:pt x="0" y="40616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777593" y="949280"/>
            <a:ext cx="5623207" cy="631676"/>
          </a:xfrm>
          <a:prstGeom prst="rect">
            <a:avLst/>
          </a:prstGeom>
        </p:spPr>
        <p:txBody>
          <a:bodyPr lIns="0" tIns="0" rIns="0" bIns="0" rtlCol="0" anchor="t">
            <a:spAutoFit/>
          </a:bodyPr>
          <a:lstStyle/>
          <a:p>
            <a:pPr algn="l">
              <a:lnSpc>
                <a:spcPts val="5040"/>
              </a:lnSpc>
            </a:pPr>
            <a:r>
              <a:rPr lang="en-US" sz="4400" u="sng" spc="8">
                <a:solidFill>
                  <a:srgbClr val="CD0505"/>
                </a:solidFill>
                <a:latin typeface="Archivo Black"/>
                <a:ea typeface="Archivo Black"/>
                <a:cs typeface="Archivo Black"/>
                <a:sym typeface="Archivo Black"/>
              </a:rPr>
              <a:t>INTRODUCTION</a:t>
            </a:r>
          </a:p>
        </p:txBody>
      </p:sp>
      <p:sp>
        <p:nvSpPr>
          <p:cNvPr id="13" name="Freeform 13"/>
          <p:cNvSpPr/>
          <p:nvPr/>
        </p:nvSpPr>
        <p:spPr>
          <a:xfrm>
            <a:off x="11006977" y="5832023"/>
            <a:ext cx="4016491" cy="3510919"/>
          </a:xfrm>
          <a:custGeom>
            <a:avLst/>
            <a:gdLst/>
            <a:ahLst/>
            <a:cxnLst/>
            <a:rect l="l" t="t" r="r" b="b"/>
            <a:pathLst>
              <a:path w="4016491" h="3510919">
                <a:moveTo>
                  <a:pt x="0" y="0"/>
                </a:moveTo>
                <a:lnTo>
                  <a:pt x="4016491" y="0"/>
                </a:lnTo>
                <a:lnTo>
                  <a:pt x="4016491" y="3510919"/>
                </a:lnTo>
                <a:lnTo>
                  <a:pt x="0" y="35109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2009130" y="8582131"/>
            <a:ext cx="649770" cy="616202"/>
          </a:xfrm>
          <a:custGeom>
            <a:avLst/>
            <a:gdLst/>
            <a:ahLst/>
            <a:cxnLst/>
            <a:rect l="l" t="t" r="r" b="b"/>
            <a:pathLst>
              <a:path w="649770" h="616202">
                <a:moveTo>
                  <a:pt x="0" y="0"/>
                </a:moveTo>
                <a:lnTo>
                  <a:pt x="649770" y="0"/>
                </a:lnTo>
                <a:lnTo>
                  <a:pt x="649770" y="616202"/>
                </a:lnTo>
                <a:lnTo>
                  <a:pt x="0" y="6162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11185882" y="2651797"/>
            <a:ext cx="6551514" cy="4359275"/>
          </a:xfrm>
          <a:custGeom>
            <a:avLst/>
            <a:gdLst/>
            <a:ahLst/>
            <a:cxnLst/>
            <a:rect l="l" t="t" r="r" b="b"/>
            <a:pathLst>
              <a:path w="6551514" h="4359275">
                <a:moveTo>
                  <a:pt x="0" y="0"/>
                </a:moveTo>
                <a:lnTo>
                  <a:pt x="6551514" y="0"/>
                </a:lnTo>
                <a:lnTo>
                  <a:pt x="6551514" y="4359275"/>
                </a:lnTo>
                <a:lnTo>
                  <a:pt x="0" y="4359275"/>
                </a:lnTo>
                <a:lnTo>
                  <a:pt x="0" y="0"/>
                </a:lnTo>
                <a:close/>
              </a:path>
            </a:pathLst>
          </a:custGeom>
          <a:blipFill>
            <a:blip r:embed="rId8"/>
            <a:stretch>
              <a:fillRect r="-494"/>
            </a:stretch>
          </a:blipFill>
        </p:spPr>
      </p:sp>
      <p:sp>
        <p:nvSpPr>
          <p:cNvPr id="16" name="TextBox 16"/>
          <p:cNvSpPr txBox="1"/>
          <p:nvPr/>
        </p:nvSpPr>
        <p:spPr>
          <a:xfrm>
            <a:off x="396240" y="1722120"/>
            <a:ext cx="10618274" cy="6820786"/>
          </a:xfrm>
          <a:prstGeom prst="rect">
            <a:avLst/>
          </a:prstGeom>
        </p:spPr>
        <p:txBody>
          <a:bodyPr lIns="0" tIns="0" rIns="0" bIns="0" rtlCol="0" anchor="t">
            <a:spAutoFit/>
          </a:bodyPr>
          <a:lstStyle/>
          <a:p>
            <a:pPr algn="l">
              <a:lnSpc>
                <a:spcPts val="3784"/>
              </a:lnSpc>
            </a:pPr>
            <a:r>
              <a:rPr lang="en-US" sz="2799" spc="26">
                <a:solidFill>
                  <a:srgbClr val="000000"/>
                </a:solidFill>
                <a:latin typeface="TT Rounds Condensed Bold"/>
                <a:ea typeface="TT Rounds Condensed Bold"/>
                <a:cs typeface="TT Rounds Condensed Bold"/>
                <a:sym typeface="TT Rounds Condensed Bold"/>
              </a:rPr>
              <a:t>WHAT DO YOU MEAN BY DRIVE ASSISTIVE TECHNOLOGY?</a:t>
            </a:r>
          </a:p>
          <a:p>
            <a:pPr algn="l">
              <a:lnSpc>
                <a:spcPts val="3784"/>
              </a:lnSpc>
            </a:pPr>
            <a:r>
              <a:rPr lang="en-US" sz="2799" spc="26">
                <a:solidFill>
                  <a:srgbClr val="000000"/>
                </a:solidFill>
                <a:latin typeface="TT Rounds Condensed"/>
                <a:ea typeface="TT Rounds Condensed"/>
                <a:cs typeface="TT Rounds Condensed"/>
                <a:sym typeface="TT Rounds Condensed"/>
              </a:rPr>
              <a:t>	Drive assistive technology refers to advanced systems and features designed to support and enhance the driving experience by aiming improving safety, convenience, and comfort for drivers and passengers.</a:t>
            </a:r>
          </a:p>
          <a:p>
            <a:pPr algn="l">
              <a:lnSpc>
                <a:spcPts val="3784"/>
              </a:lnSpc>
            </a:pPr>
            <a:endParaRPr lang="en-US" sz="2799" spc="26">
              <a:solidFill>
                <a:srgbClr val="000000"/>
              </a:solidFill>
              <a:latin typeface="TT Rounds Condensed"/>
              <a:ea typeface="TT Rounds Condensed"/>
              <a:cs typeface="TT Rounds Condensed"/>
              <a:sym typeface="TT Rounds Condensed"/>
            </a:endParaRPr>
          </a:p>
          <a:p>
            <a:pPr algn="l">
              <a:lnSpc>
                <a:spcPts val="3784"/>
              </a:lnSpc>
            </a:pPr>
            <a:r>
              <a:rPr lang="en-US" sz="2799" spc="26">
                <a:solidFill>
                  <a:srgbClr val="000000"/>
                </a:solidFill>
                <a:latin typeface="TT Rounds Condensed Bold"/>
                <a:ea typeface="TT Rounds Condensed Bold"/>
                <a:cs typeface="TT Rounds Condensed Bold"/>
                <a:sym typeface="TT Rounds Condensed Bold"/>
              </a:rPr>
              <a:t>FEATURES:</a:t>
            </a:r>
          </a:p>
          <a:p>
            <a:pPr algn="l">
              <a:lnSpc>
                <a:spcPts val="3784"/>
              </a:lnSpc>
            </a:pPr>
            <a:r>
              <a:rPr lang="en-US" sz="2799" spc="26">
                <a:solidFill>
                  <a:srgbClr val="000000"/>
                </a:solidFill>
                <a:latin typeface="TT Rounds Condensed"/>
                <a:ea typeface="TT Rounds Condensed"/>
                <a:cs typeface="TT Rounds Condensed"/>
                <a:sym typeface="TT Rounds Condensed"/>
              </a:rPr>
              <a:t>Lane Departure Warning and Lane Keeping Assist</a:t>
            </a:r>
          </a:p>
          <a:p>
            <a:pPr algn="l">
              <a:lnSpc>
                <a:spcPts val="3784"/>
              </a:lnSpc>
            </a:pPr>
            <a:r>
              <a:rPr lang="en-US" sz="2799" spc="26">
                <a:solidFill>
                  <a:srgbClr val="000000"/>
                </a:solidFill>
                <a:latin typeface="TT Rounds Condensed"/>
                <a:ea typeface="TT Rounds Condensed"/>
                <a:cs typeface="TT Rounds Condensed"/>
                <a:sym typeface="TT Rounds Condensed"/>
              </a:rPr>
              <a:t>Traffic Sign Recognition</a:t>
            </a:r>
          </a:p>
          <a:p>
            <a:pPr algn="l">
              <a:lnSpc>
                <a:spcPts val="3784"/>
              </a:lnSpc>
            </a:pPr>
            <a:r>
              <a:rPr lang="en-US" sz="2799" spc="26">
                <a:solidFill>
                  <a:srgbClr val="000000"/>
                </a:solidFill>
                <a:latin typeface="TT Rounds Condensed"/>
                <a:ea typeface="TT Rounds Condensed"/>
                <a:cs typeface="TT Rounds Condensed"/>
                <a:sym typeface="TT Rounds Condensed"/>
              </a:rPr>
              <a:t>Driver Monitoring Systems</a:t>
            </a:r>
          </a:p>
          <a:p>
            <a:pPr algn="l">
              <a:lnSpc>
                <a:spcPts val="3784"/>
              </a:lnSpc>
            </a:pPr>
            <a:r>
              <a:rPr lang="en-US" sz="2799" spc="26">
                <a:solidFill>
                  <a:srgbClr val="000000"/>
                </a:solidFill>
                <a:latin typeface="TT Rounds Condensed"/>
                <a:ea typeface="TT Rounds Condensed"/>
                <a:cs typeface="TT Rounds Condensed"/>
                <a:sym typeface="TT Rounds Condensed"/>
              </a:rPr>
              <a:t>Gesture Control</a:t>
            </a:r>
          </a:p>
          <a:p>
            <a:pPr algn="l">
              <a:lnSpc>
                <a:spcPts val="3784"/>
              </a:lnSpc>
            </a:pPr>
            <a:endParaRPr lang="en-US" sz="2799" spc="26">
              <a:solidFill>
                <a:srgbClr val="000000"/>
              </a:solidFill>
              <a:latin typeface="TT Rounds Condensed"/>
              <a:ea typeface="TT Rounds Condensed"/>
              <a:cs typeface="TT Rounds Condensed"/>
              <a:sym typeface="TT Rounds Condensed"/>
            </a:endParaRPr>
          </a:p>
          <a:p>
            <a:pPr algn="l">
              <a:lnSpc>
                <a:spcPts val="3784"/>
              </a:lnSpc>
            </a:pPr>
            <a:r>
              <a:rPr lang="en-US" sz="2799" spc="26">
                <a:solidFill>
                  <a:srgbClr val="FF0000"/>
                </a:solidFill>
                <a:latin typeface="TT Rounds Condensed"/>
                <a:ea typeface="TT Rounds Condensed"/>
                <a:cs typeface="TT Rounds Condensed"/>
                <a:sym typeface="TT Rounds Condensed"/>
              </a:rPr>
              <a:t>By incorporating NVIDIA Jetson development board and machine learning based embedded system we want to modify the system by filling the gaps in exist driver assistive technologies.</a:t>
            </a:r>
          </a:p>
        </p:txBody>
      </p:sp>
      <p:sp>
        <p:nvSpPr>
          <p:cNvPr id="17" name="TextBox 17"/>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03</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grpSp>
        <p:nvGrpSpPr>
          <p:cNvPr id="11" name="Group 11"/>
          <p:cNvGrpSpPr/>
          <p:nvPr/>
        </p:nvGrpSpPr>
        <p:grpSpPr>
          <a:xfrm>
            <a:off x="11496998" y="1804137"/>
            <a:ext cx="6649775" cy="5758405"/>
            <a:chOff x="0" y="0"/>
            <a:chExt cx="8866367" cy="7677873"/>
          </a:xfrm>
        </p:grpSpPr>
        <p:sp>
          <p:nvSpPr>
            <p:cNvPr id="12" name="Freeform 12"/>
            <p:cNvSpPr/>
            <p:nvPr/>
          </p:nvSpPr>
          <p:spPr>
            <a:xfrm>
              <a:off x="0" y="0"/>
              <a:ext cx="8866378" cy="7677912"/>
            </a:xfrm>
            <a:custGeom>
              <a:avLst/>
              <a:gdLst/>
              <a:ahLst/>
              <a:cxnLst/>
              <a:rect l="l" t="t" r="r" b="b"/>
              <a:pathLst>
                <a:path w="8866378" h="7677912">
                  <a:moveTo>
                    <a:pt x="6649720" y="0"/>
                  </a:moveTo>
                  <a:lnTo>
                    <a:pt x="2216531" y="0"/>
                  </a:lnTo>
                  <a:lnTo>
                    <a:pt x="0" y="3838956"/>
                  </a:lnTo>
                  <a:lnTo>
                    <a:pt x="2216531" y="7677912"/>
                  </a:lnTo>
                  <a:lnTo>
                    <a:pt x="6649720" y="7677912"/>
                  </a:lnTo>
                  <a:lnTo>
                    <a:pt x="8866378" y="3838956"/>
                  </a:lnTo>
                  <a:close/>
                </a:path>
              </a:pathLst>
            </a:custGeom>
            <a:blipFill>
              <a:blip r:embed="rId2"/>
              <a:stretch>
                <a:fillRect l="-26823" r="-26823"/>
              </a:stretch>
            </a:blipFill>
          </p:spPr>
        </p:sp>
      </p:grpSp>
      <p:sp>
        <p:nvSpPr>
          <p:cNvPr id="13" name="Freeform 13"/>
          <p:cNvSpPr/>
          <p:nvPr/>
        </p:nvSpPr>
        <p:spPr>
          <a:xfrm>
            <a:off x="15157834" y="904527"/>
            <a:ext cx="2523317" cy="2317645"/>
          </a:xfrm>
          <a:custGeom>
            <a:avLst/>
            <a:gdLst/>
            <a:ahLst/>
            <a:cxnLst/>
            <a:rect l="l" t="t" r="r" b="b"/>
            <a:pathLst>
              <a:path w="2523317" h="2317645">
                <a:moveTo>
                  <a:pt x="0" y="0"/>
                </a:moveTo>
                <a:lnTo>
                  <a:pt x="2523317" y="0"/>
                </a:lnTo>
                <a:lnTo>
                  <a:pt x="2523317" y="2317644"/>
                </a:lnTo>
                <a:lnTo>
                  <a:pt x="0" y="23176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4407355" y="6694246"/>
            <a:ext cx="2753180" cy="2384130"/>
            <a:chOff x="0" y="0"/>
            <a:chExt cx="3670907" cy="3178840"/>
          </a:xfrm>
        </p:grpSpPr>
        <p:sp>
          <p:nvSpPr>
            <p:cNvPr id="15" name="Freeform 15"/>
            <p:cNvSpPr/>
            <p:nvPr/>
          </p:nvSpPr>
          <p:spPr>
            <a:xfrm>
              <a:off x="0" y="0"/>
              <a:ext cx="3670935" cy="3178810"/>
            </a:xfrm>
            <a:custGeom>
              <a:avLst/>
              <a:gdLst/>
              <a:ahLst/>
              <a:cxnLst/>
              <a:rect l="l" t="t" r="r" b="b"/>
              <a:pathLst>
                <a:path w="3670935" h="3178810">
                  <a:moveTo>
                    <a:pt x="2753233" y="0"/>
                  </a:moveTo>
                  <a:lnTo>
                    <a:pt x="917702" y="0"/>
                  </a:lnTo>
                  <a:lnTo>
                    <a:pt x="0" y="1589405"/>
                  </a:lnTo>
                  <a:lnTo>
                    <a:pt x="917702" y="3178810"/>
                  </a:lnTo>
                  <a:lnTo>
                    <a:pt x="2753233" y="3178810"/>
                  </a:lnTo>
                  <a:lnTo>
                    <a:pt x="3670935" y="1589405"/>
                  </a:lnTo>
                  <a:close/>
                </a:path>
              </a:pathLst>
            </a:custGeom>
            <a:blipFill>
              <a:blip r:embed="rId5"/>
              <a:stretch>
                <a:fillRect l="-14974" r="-14973"/>
              </a:stretch>
            </a:blipFill>
          </p:spPr>
        </p:sp>
      </p:grpSp>
      <p:sp>
        <p:nvSpPr>
          <p:cNvPr id="16" name="Freeform 16"/>
          <p:cNvSpPr/>
          <p:nvPr/>
        </p:nvSpPr>
        <p:spPr>
          <a:xfrm>
            <a:off x="11859412" y="2398903"/>
            <a:ext cx="702632" cy="666333"/>
          </a:xfrm>
          <a:custGeom>
            <a:avLst/>
            <a:gdLst/>
            <a:ahLst/>
            <a:cxnLst/>
            <a:rect l="l" t="t" r="r" b="b"/>
            <a:pathLst>
              <a:path w="702632" h="666333">
                <a:moveTo>
                  <a:pt x="0" y="0"/>
                </a:moveTo>
                <a:lnTo>
                  <a:pt x="702632" y="0"/>
                </a:lnTo>
                <a:lnTo>
                  <a:pt x="702632" y="666333"/>
                </a:lnTo>
                <a:lnTo>
                  <a:pt x="0" y="6663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a:off x="10334138" y="9078376"/>
            <a:ext cx="2818390" cy="913679"/>
          </a:xfrm>
          <a:custGeom>
            <a:avLst/>
            <a:gdLst/>
            <a:ahLst/>
            <a:cxnLst/>
            <a:rect l="l" t="t" r="r" b="b"/>
            <a:pathLst>
              <a:path w="2818390" h="913679">
                <a:moveTo>
                  <a:pt x="0" y="0"/>
                </a:moveTo>
                <a:lnTo>
                  <a:pt x="2818390" y="0"/>
                </a:lnTo>
                <a:lnTo>
                  <a:pt x="2818390" y="913679"/>
                </a:lnTo>
                <a:lnTo>
                  <a:pt x="0" y="9136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Freeform 18"/>
          <p:cNvSpPr/>
          <p:nvPr/>
        </p:nvSpPr>
        <p:spPr>
          <a:xfrm>
            <a:off x="146432" y="489064"/>
            <a:ext cx="2818390" cy="913679"/>
          </a:xfrm>
          <a:custGeom>
            <a:avLst/>
            <a:gdLst/>
            <a:ahLst/>
            <a:cxnLst/>
            <a:rect l="l" t="t" r="r" b="b"/>
            <a:pathLst>
              <a:path w="2818390" h="913679">
                <a:moveTo>
                  <a:pt x="0" y="0"/>
                </a:moveTo>
                <a:lnTo>
                  <a:pt x="2818390" y="0"/>
                </a:lnTo>
                <a:lnTo>
                  <a:pt x="2818390" y="913679"/>
                </a:lnTo>
                <a:lnTo>
                  <a:pt x="0" y="9136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a:off x="15841308" y="4353231"/>
            <a:ext cx="2115985" cy="1818425"/>
          </a:xfrm>
          <a:custGeom>
            <a:avLst/>
            <a:gdLst/>
            <a:ahLst/>
            <a:cxnLst/>
            <a:rect l="l" t="t" r="r" b="b"/>
            <a:pathLst>
              <a:path w="2115985" h="1818425">
                <a:moveTo>
                  <a:pt x="0" y="0"/>
                </a:moveTo>
                <a:lnTo>
                  <a:pt x="2115985" y="0"/>
                </a:lnTo>
                <a:lnTo>
                  <a:pt x="2115985" y="1818425"/>
                </a:lnTo>
                <a:lnTo>
                  <a:pt x="0" y="181842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Freeform 20"/>
          <p:cNvSpPr/>
          <p:nvPr/>
        </p:nvSpPr>
        <p:spPr>
          <a:xfrm>
            <a:off x="17160534" y="6869665"/>
            <a:ext cx="957209" cy="822602"/>
          </a:xfrm>
          <a:custGeom>
            <a:avLst/>
            <a:gdLst/>
            <a:ahLst/>
            <a:cxnLst/>
            <a:rect l="l" t="t" r="r" b="b"/>
            <a:pathLst>
              <a:path w="957209" h="822602">
                <a:moveTo>
                  <a:pt x="0" y="0"/>
                </a:moveTo>
                <a:lnTo>
                  <a:pt x="957210" y="0"/>
                </a:lnTo>
                <a:lnTo>
                  <a:pt x="957210" y="822602"/>
                </a:lnTo>
                <a:lnTo>
                  <a:pt x="0" y="8226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1" name="TextBox 21"/>
          <p:cNvSpPr txBox="1"/>
          <p:nvPr/>
        </p:nvSpPr>
        <p:spPr>
          <a:xfrm>
            <a:off x="955741" y="947289"/>
            <a:ext cx="8115300" cy="628650"/>
          </a:xfrm>
          <a:prstGeom prst="rect">
            <a:avLst/>
          </a:prstGeom>
        </p:spPr>
        <p:txBody>
          <a:bodyPr lIns="0" tIns="0" rIns="0" bIns="0" rtlCol="0" anchor="t">
            <a:spAutoFit/>
          </a:bodyPr>
          <a:lstStyle/>
          <a:p>
            <a:pPr algn="l">
              <a:lnSpc>
                <a:spcPts val="5040"/>
              </a:lnSpc>
            </a:pPr>
            <a:r>
              <a:rPr lang="en-US" sz="4400" u="sng" spc="8">
                <a:solidFill>
                  <a:srgbClr val="CD0505"/>
                </a:solidFill>
                <a:latin typeface="Archivo Black"/>
                <a:ea typeface="Archivo Black"/>
                <a:cs typeface="Archivo Black"/>
                <a:sym typeface="Archivo Black"/>
              </a:rPr>
              <a:t>OBJECTIVES</a:t>
            </a:r>
          </a:p>
        </p:txBody>
      </p:sp>
      <p:sp>
        <p:nvSpPr>
          <p:cNvPr id="22" name="TextBox 22"/>
          <p:cNvSpPr txBox="1"/>
          <p:nvPr/>
        </p:nvSpPr>
        <p:spPr>
          <a:xfrm>
            <a:off x="146432" y="1204460"/>
            <a:ext cx="11335862" cy="8287037"/>
          </a:xfrm>
          <a:prstGeom prst="rect">
            <a:avLst/>
          </a:prstGeom>
        </p:spPr>
        <p:txBody>
          <a:bodyPr lIns="0" tIns="0" rIns="0" bIns="0" rtlCol="0" anchor="t">
            <a:spAutoFit/>
          </a:bodyPr>
          <a:lstStyle/>
          <a:p>
            <a:pPr marL="923284" lvl="2" indent="-307761" algn="l">
              <a:lnSpc>
                <a:spcPts val="7920"/>
              </a:lnSpc>
              <a:buFont typeface="Arial"/>
              <a:buChar char="⚬"/>
            </a:pPr>
            <a:r>
              <a:rPr lang="en-US" sz="4400" spc="41">
                <a:solidFill>
                  <a:srgbClr val="000000"/>
                </a:solidFill>
                <a:latin typeface="TT Rounds Condensed"/>
                <a:ea typeface="TT Rounds Condensed"/>
                <a:cs typeface="TT Rounds Condensed"/>
                <a:sym typeface="TT Rounds Condensed"/>
              </a:rPr>
              <a:t>To monitor a vehicle’s surroundings and make driving tasks easier and safer.</a:t>
            </a:r>
          </a:p>
          <a:p>
            <a:pPr marL="923284" lvl="2" indent="-307761" algn="l">
              <a:lnSpc>
                <a:spcPts val="7920"/>
              </a:lnSpc>
              <a:buFont typeface="Arial"/>
              <a:buChar char="⚬"/>
            </a:pPr>
            <a:r>
              <a:rPr lang="en-US" sz="4400" spc="41">
                <a:solidFill>
                  <a:srgbClr val="000000"/>
                </a:solidFill>
                <a:latin typeface="TT Rounds Condensed"/>
                <a:ea typeface="TT Rounds Condensed"/>
                <a:cs typeface="TT Rounds Condensed"/>
                <a:sym typeface="TT Rounds Condensed"/>
              </a:rPr>
              <a:t>Automatically switches on your car’s high-beams in appropriate low-light situations and shuts them off when it detects headlights or taillights</a:t>
            </a:r>
          </a:p>
          <a:p>
            <a:pPr marL="923284" lvl="2" indent="-307761" algn="l">
              <a:lnSpc>
                <a:spcPts val="7920"/>
              </a:lnSpc>
              <a:buFont typeface="Arial"/>
              <a:buChar char="⚬"/>
            </a:pPr>
            <a:r>
              <a:rPr lang="en-US" sz="4400" spc="41">
                <a:solidFill>
                  <a:srgbClr val="000000"/>
                </a:solidFill>
                <a:latin typeface="TT Rounds Condensed"/>
                <a:ea typeface="TT Rounds Condensed"/>
                <a:cs typeface="TT Rounds Condensed"/>
                <a:sym typeface="TT Rounds Condensed"/>
              </a:rPr>
              <a:t>Forward-collision warning</a:t>
            </a:r>
          </a:p>
          <a:p>
            <a:pPr marL="923284" lvl="2" indent="-307761" algn="l">
              <a:lnSpc>
                <a:spcPts val="7920"/>
              </a:lnSpc>
              <a:buFont typeface="Arial"/>
              <a:buChar char="⚬"/>
            </a:pPr>
            <a:r>
              <a:rPr lang="en-US" sz="4400" spc="41">
                <a:solidFill>
                  <a:srgbClr val="000000"/>
                </a:solidFill>
                <a:latin typeface="TT Rounds Condensed"/>
                <a:ea typeface="TT Rounds Condensed"/>
                <a:cs typeface="TT Rounds Condensed"/>
                <a:sym typeface="TT Rounds Condensed"/>
              </a:rPr>
              <a:t>Speed-limit assist </a:t>
            </a:r>
          </a:p>
        </p:txBody>
      </p:sp>
      <p:sp>
        <p:nvSpPr>
          <p:cNvPr id="23" name="Freeform 23"/>
          <p:cNvSpPr/>
          <p:nvPr/>
        </p:nvSpPr>
        <p:spPr>
          <a:xfrm>
            <a:off x="12439503" y="907285"/>
            <a:ext cx="1340392" cy="1151900"/>
          </a:xfrm>
          <a:custGeom>
            <a:avLst/>
            <a:gdLst/>
            <a:ahLst/>
            <a:cxnLst/>
            <a:rect l="l" t="t" r="r" b="b"/>
            <a:pathLst>
              <a:path w="1340392" h="1151900">
                <a:moveTo>
                  <a:pt x="0" y="0"/>
                </a:moveTo>
                <a:lnTo>
                  <a:pt x="1340392" y="0"/>
                </a:lnTo>
                <a:lnTo>
                  <a:pt x="1340392" y="1151900"/>
                </a:lnTo>
                <a:lnTo>
                  <a:pt x="0" y="11519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4" name="TextBox 24"/>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04</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a:off x="2" y="9247188"/>
            <a:ext cx="14956790" cy="635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grpSp>
        <p:nvGrpSpPr>
          <p:cNvPr id="11" name="Group 11"/>
          <p:cNvGrpSpPr/>
          <p:nvPr/>
        </p:nvGrpSpPr>
        <p:grpSpPr>
          <a:xfrm>
            <a:off x="11496998" y="1804137"/>
            <a:ext cx="6649775" cy="5758405"/>
            <a:chOff x="0" y="0"/>
            <a:chExt cx="8866367" cy="7677873"/>
          </a:xfrm>
        </p:grpSpPr>
        <p:sp>
          <p:nvSpPr>
            <p:cNvPr id="12" name="Freeform 12"/>
            <p:cNvSpPr/>
            <p:nvPr/>
          </p:nvSpPr>
          <p:spPr>
            <a:xfrm>
              <a:off x="0" y="0"/>
              <a:ext cx="8866378" cy="7677912"/>
            </a:xfrm>
            <a:custGeom>
              <a:avLst/>
              <a:gdLst/>
              <a:ahLst/>
              <a:cxnLst/>
              <a:rect l="l" t="t" r="r" b="b"/>
              <a:pathLst>
                <a:path w="8866378" h="7677912">
                  <a:moveTo>
                    <a:pt x="6649720" y="0"/>
                  </a:moveTo>
                  <a:lnTo>
                    <a:pt x="2216531" y="0"/>
                  </a:lnTo>
                  <a:lnTo>
                    <a:pt x="0" y="3838956"/>
                  </a:lnTo>
                  <a:lnTo>
                    <a:pt x="2216531" y="7677912"/>
                  </a:lnTo>
                  <a:lnTo>
                    <a:pt x="6649720" y="7677912"/>
                  </a:lnTo>
                  <a:lnTo>
                    <a:pt x="8866378" y="3838956"/>
                  </a:lnTo>
                  <a:close/>
                </a:path>
              </a:pathLst>
            </a:custGeom>
            <a:blipFill>
              <a:blip r:embed="rId2"/>
              <a:stretch>
                <a:fillRect l="-26823" r="-26823"/>
              </a:stretch>
            </a:blipFill>
          </p:spPr>
        </p:sp>
      </p:grpSp>
      <p:sp>
        <p:nvSpPr>
          <p:cNvPr id="13" name="Freeform 13"/>
          <p:cNvSpPr/>
          <p:nvPr/>
        </p:nvSpPr>
        <p:spPr>
          <a:xfrm>
            <a:off x="15157834" y="904527"/>
            <a:ext cx="2523317" cy="2317645"/>
          </a:xfrm>
          <a:custGeom>
            <a:avLst/>
            <a:gdLst/>
            <a:ahLst/>
            <a:cxnLst/>
            <a:rect l="l" t="t" r="r" b="b"/>
            <a:pathLst>
              <a:path w="2523317" h="2317645">
                <a:moveTo>
                  <a:pt x="0" y="0"/>
                </a:moveTo>
                <a:lnTo>
                  <a:pt x="2523317" y="0"/>
                </a:lnTo>
                <a:lnTo>
                  <a:pt x="2523317" y="2317644"/>
                </a:lnTo>
                <a:lnTo>
                  <a:pt x="0" y="23176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4407355" y="6694246"/>
            <a:ext cx="2753180" cy="2384130"/>
            <a:chOff x="0" y="0"/>
            <a:chExt cx="3670907" cy="3178840"/>
          </a:xfrm>
        </p:grpSpPr>
        <p:sp>
          <p:nvSpPr>
            <p:cNvPr id="15" name="Freeform 15"/>
            <p:cNvSpPr/>
            <p:nvPr/>
          </p:nvSpPr>
          <p:spPr>
            <a:xfrm>
              <a:off x="0" y="0"/>
              <a:ext cx="3670935" cy="3178810"/>
            </a:xfrm>
            <a:custGeom>
              <a:avLst/>
              <a:gdLst/>
              <a:ahLst/>
              <a:cxnLst/>
              <a:rect l="l" t="t" r="r" b="b"/>
              <a:pathLst>
                <a:path w="3670935" h="3178810">
                  <a:moveTo>
                    <a:pt x="2753233" y="0"/>
                  </a:moveTo>
                  <a:lnTo>
                    <a:pt x="917702" y="0"/>
                  </a:lnTo>
                  <a:lnTo>
                    <a:pt x="0" y="1589405"/>
                  </a:lnTo>
                  <a:lnTo>
                    <a:pt x="917702" y="3178810"/>
                  </a:lnTo>
                  <a:lnTo>
                    <a:pt x="2753233" y="3178810"/>
                  </a:lnTo>
                  <a:lnTo>
                    <a:pt x="3670935" y="1589405"/>
                  </a:lnTo>
                  <a:close/>
                </a:path>
              </a:pathLst>
            </a:custGeom>
            <a:blipFill>
              <a:blip r:embed="rId5"/>
              <a:stretch>
                <a:fillRect l="-14974" r="-14973"/>
              </a:stretch>
            </a:blipFill>
          </p:spPr>
        </p:sp>
      </p:grpSp>
      <p:sp>
        <p:nvSpPr>
          <p:cNvPr id="16" name="Freeform 16"/>
          <p:cNvSpPr/>
          <p:nvPr/>
        </p:nvSpPr>
        <p:spPr>
          <a:xfrm>
            <a:off x="11859412" y="2398903"/>
            <a:ext cx="702632" cy="666333"/>
          </a:xfrm>
          <a:custGeom>
            <a:avLst/>
            <a:gdLst/>
            <a:ahLst/>
            <a:cxnLst/>
            <a:rect l="l" t="t" r="r" b="b"/>
            <a:pathLst>
              <a:path w="702632" h="666333">
                <a:moveTo>
                  <a:pt x="0" y="0"/>
                </a:moveTo>
                <a:lnTo>
                  <a:pt x="702632" y="0"/>
                </a:lnTo>
                <a:lnTo>
                  <a:pt x="702632" y="666333"/>
                </a:lnTo>
                <a:lnTo>
                  <a:pt x="0" y="6663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a:off x="10334138" y="9078376"/>
            <a:ext cx="2818390" cy="913679"/>
          </a:xfrm>
          <a:custGeom>
            <a:avLst/>
            <a:gdLst/>
            <a:ahLst/>
            <a:cxnLst/>
            <a:rect l="l" t="t" r="r" b="b"/>
            <a:pathLst>
              <a:path w="2818390" h="913679">
                <a:moveTo>
                  <a:pt x="0" y="0"/>
                </a:moveTo>
                <a:lnTo>
                  <a:pt x="2818390" y="0"/>
                </a:lnTo>
                <a:lnTo>
                  <a:pt x="2818390" y="913679"/>
                </a:lnTo>
                <a:lnTo>
                  <a:pt x="0" y="9136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Freeform 18"/>
          <p:cNvSpPr/>
          <p:nvPr/>
        </p:nvSpPr>
        <p:spPr>
          <a:xfrm>
            <a:off x="87774" y="682416"/>
            <a:ext cx="2818390" cy="913679"/>
          </a:xfrm>
          <a:custGeom>
            <a:avLst/>
            <a:gdLst/>
            <a:ahLst/>
            <a:cxnLst/>
            <a:rect l="l" t="t" r="r" b="b"/>
            <a:pathLst>
              <a:path w="2818390" h="913679">
                <a:moveTo>
                  <a:pt x="0" y="0"/>
                </a:moveTo>
                <a:lnTo>
                  <a:pt x="2818390" y="0"/>
                </a:lnTo>
                <a:lnTo>
                  <a:pt x="2818390" y="913679"/>
                </a:lnTo>
                <a:lnTo>
                  <a:pt x="0" y="9136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a:off x="15841308" y="4353231"/>
            <a:ext cx="2115985" cy="1818425"/>
          </a:xfrm>
          <a:custGeom>
            <a:avLst/>
            <a:gdLst/>
            <a:ahLst/>
            <a:cxnLst/>
            <a:rect l="l" t="t" r="r" b="b"/>
            <a:pathLst>
              <a:path w="2115985" h="1818425">
                <a:moveTo>
                  <a:pt x="0" y="0"/>
                </a:moveTo>
                <a:lnTo>
                  <a:pt x="2115985" y="0"/>
                </a:lnTo>
                <a:lnTo>
                  <a:pt x="2115985" y="1818425"/>
                </a:lnTo>
                <a:lnTo>
                  <a:pt x="0" y="181842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Freeform 20"/>
          <p:cNvSpPr/>
          <p:nvPr/>
        </p:nvSpPr>
        <p:spPr>
          <a:xfrm>
            <a:off x="17160534" y="6869665"/>
            <a:ext cx="957209" cy="822602"/>
          </a:xfrm>
          <a:custGeom>
            <a:avLst/>
            <a:gdLst/>
            <a:ahLst/>
            <a:cxnLst/>
            <a:rect l="l" t="t" r="r" b="b"/>
            <a:pathLst>
              <a:path w="957209" h="822602">
                <a:moveTo>
                  <a:pt x="0" y="0"/>
                </a:moveTo>
                <a:lnTo>
                  <a:pt x="957210" y="0"/>
                </a:lnTo>
                <a:lnTo>
                  <a:pt x="957210" y="822602"/>
                </a:lnTo>
                <a:lnTo>
                  <a:pt x="0" y="8226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1" name="TextBox 21"/>
          <p:cNvSpPr txBox="1"/>
          <p:nvPr/>
        </p:nvSpPr>
        <p:spPr>
          <a:xfrm>
            <a:off x="959307" y="1173673"/>
            <a:ext cx="8115300" cy="628650"/>
          </a:xfrm>
          <a:prstGeom prst="rect">
            <a:avLst/>
          </a:prstGeom>
        </p:spPr>
        <p:txBody>
          <a:bodyPr lIns="0" tIns="0" rIns="0" bIns="0" rtlCol="0" anchor="t">
            <a:spAutoFit/>
          </a:bodyPr>
          <a:lstStyle/>
          <a:p>
            <a:pPr algn="l">
              <a:lnSpc>
                <a:spcPts val="5040"/>
              </a:lnSpc>
            </a:pPr>
            <a:r>
              <a:rPr lang="en-US" sz="4400" u="sng" spc="8">
                <a:solidFill>
                  <a:srgbClr val="CD0505"/>
                </a:solidFill>
                <a:latin typeface="Archivo Black"/>
                <a:ea typeface="Archivo Black"/>
                <a:cs typeface="Archivo Black"/>
                <a:sym typeface="Archivo Black"/>
              </a:rPr>
              <a:t>RESEARCH GAPS</a:t>
            </a:r>
          </a:p>
        </p:txBody>
      </p:sp>
      <p:sp>
        <p:nvSpPr>
          <p:cNvPr id="22" name="Freeform 22"/>
          <p:cNvSpPr/>
          <p:nvPr/>
        </p:nvSpPr>
        <p:spPr>
          <a:xfrm>
            <a:off x="12439503" y="907285"/>
            <a:ext cx="1340392" cy="1151900"/>
          </a:xfrm>
          <a:custGeom>
            <a:avLst/>
            <a:gdLst/>
            <a:ahLst/>
            <a:cxnLst/>
            <a:rect l="l" t="t" r="r" b="b"/>
            <a:pathLst>
              <a:path w="1340392" h="1151900">
                <a:moveTo>
                  <a:pt x="0" y="0"/>
                </a:moveTo>
                <a:lnTo>
                  <a:pt x="1340392" y="0"/>
                </a:lnTo>
                <a:lnTo>
                  <a:pt x="1340392" y="1151900"/>
                </a:lnTo>
                <a:lnTo>
                  <a:pt x="0" y="11519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3" name="TextBox 23"/>
          <p:cNvSpPr txBox="1"/>
          <p:nvPr/>
        </p:nvSpPr>
        <p:spPr>
          <a:xfrm>
            <a:off x="179214" y="2097074"/>
            <a:ext cx="10864077" cy="6677025"/>
          </a:xfrm>
          <a:prstGeom prst="rect">
            <a:avLst/>
          </a:prstGeom>
        </p:spPr>
        <p:txBody>
          <a:bodyPr lIns="0" tIns="0" rIns="0" bIns="0" rtlCol="0" anchor="t">
            <a:spAutoFit/>
          </a:bodyPr>
          <a:lstStyle/>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Modern vehicles integrate drive assistive systems like speed limit assist, forward collision warning, and adaptive headlight adjustments.</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However, legacy vehicles lack these integrated systems, highlighting the need for advanced drive assistive technology.</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Our project aims to bridge this gap by developing drive assistive technology using the NVIDIA Jetson development board.</a:t>
            </a:r>
          </a:p>
        </p:txBody>
      </p:sp>
      <p:sp>
        <p:nvSpPr>
          <p:cNvPr id="24" name="TextBox 24"/>
          <p:cNvSpPr txBox="1"/>
          <p:nvPr/>
        </p:nvSpPr>
        <p:spPr>
          <a:xfrm>
            <a:off x="179214" y="9810381"/>
            <a:ext cx="21029188"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05</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0" y="-9"/>
            <a:ext cx="15937992" cy="8106165"/>
            <a:chOff x="0" y="0"/>
            <a:chExt cx="21250656" cy="10808220"/>
          </a:xfrm>
        </p:grpSpPr>
        <p:sp>
          <p:nvSpPr>
            <p:cNvPr id="8" name="Freeform 8"/>
            <p:cNvSpPr/>
            <p:nvPr/>
          </p:nvSpPr>
          <p:spPr>
            <a:xfrm>
              <a:off x="0" y="0"/>
              <a:ext cx="21250656" cy="10808208"/>
            </a:xfrm>
            <a:custGeom>
              <a:avLst/>
              <a:gdLst/>
              <a:ahLst/>
              <a:cxnLst/>
              <a:rect l="l" t="t" r="r" b="b"/>
              <a:pathLst>
                <a:path w="21250656" h="10808208">
                  <a:moveTo>
                    <a:pt x="0" y="0"/>
                  </a:moveTo>
                  <a:lnTo>
                    <a:pt x="0" y="10808208"/>
                  </a:lnTo>
                  <a:lnTo>
                    <a:pt x="21250656" y="0"/>
                  </a:lnTo>
                  <a:close/>
                </a:path>
              </a:pathLst>
            </a:custGeom>
            <a:solidFill>
              <a:srgbClr val="696464"/>
            </a:solidFill>
          </p:spPr>
        </p:sp>
      </p:grpSp>
      <p:sp>
        <p:nvSpPr>
          <p:cNvPr id="9" name="AutoShape 9"/>
          <p:cNvSpPr/>
          <p:nvPr/>
        </p:nvSpPr>
        <p:spPr>
          <a:xfrm rot="-1590871">
            <a:off x="-538739" y="2253342"/>
            <a:ext cx="10123507" cy="0"/>
          </a:xfrm>
          <a:prstGeom prst="line">
            <a:avLst/>
          </a:prstGeom>
          <a:ln w="9525" cap="rnd">
            <a:solidFill>
              <a:srgbClr val="FFFFFF"/>
            </a:solidFill>
            <a:prstDash val="solid"/>
            <a:headEnd type="none" w="sm" len="sm"/>
            <a:tailEnd type="none" w="sm" len="sm"/>
          </a:ln>
        </p:spPr>
      </p:sp>
      <p:sp>
        <p:nvSpPr>
          <p:cNvPr id="10" name="AutoShape 10"/>
          <p:cNvSpPr/>
          <p:nvPr/>
        </p:nvSpPr>
        <p:spPr>
          <a:xfrm rot="-1678435">
            <a:off x="13182971" y="7153273"/>
            <a:ext cx="5428511" cy="0"/>
          </a:xfrm>
          <a:prstGeom prst="line">
            <a:avLst/>
          </a:prstGeom>
          <a:ln w="9525" cap="rnd">
            <a:solidFill>
              <a:srgbClr val="9B2D1F"/>
            </a:solidFill>
            <a:prstDash val="solid"/>
            <a:headEnd type="none" w="sm" len="sm"/>
            <a:tailEnd type="none" w="sm" len="sm"/>
          </a:ln>
        </p:spPr>
      </p:sp>
      <p:sp>
        <p:nvSpPr>
          <p:cNvPr id="11" name="AutoShape 11"/>
          <p:cNvSpPr/>
          <p:nvPr/>
        </p:nvSpPr>
        <p:spPr>
          <a:xfrm rot="-1658033">
            <a:off x="-219314" y="7800814"/>
            <a:ext cx="3264802" cy="0"/>
          </a:xfrm>
          <a:prstGeom prst="line">
            <a:avLst/>
          </a:prstGeom>
          <a:ln w="9525" cap="rnd">
            <a:solidFill>
              <a:srgbClr val="D34817"/>
            </a:solidFill>
            <a:prstDash val="solid"/>
            <a:headEnd type="none" w="sm" len="sm"/>
            <a:tailEnd type="none" w="sm" len="sm"/>
          </a:ln>
        </p:spPr>
      </p:sp>
      <p:sp>
        <p:nvSpPr>
          <p:cNvPr id="12" name="TextBox 12"/>
          <p:cNvSpPr txBox="1"/>
          <p:nvPr/>
        </p:nvSpPr>
        <p:spPr>
          <a:xfrm>
            <a:off x="10160373" y="3690990"/>
            <a:ext cx="7550938" cy="2228163"/>
          </a:xfrm>
          <a:prstGeom prst="rect">
            <a:avLst/>
          </a:prstGeom>
        </p:spPr>
        <p:txBody>
          <a:bodyPr lIns="0" tIns="0" rIns="0" bIns="0" rtlCol="0" anchor="t">
            <a:spAutoFit/>
          </a:bodyPr>
          <a:lstStyle/>
          <a:p>
            <a:pPr algn="l">
              <a:lnSpc>
                <a:spcPts val="6579"/>
              </a:lnSpc>
            </a:pPr>
            <a:r>
              <a:rPr lang="en-US" sz="6450" u="sng" spc="-63" dirty="0">
                <a:solidFill>
                  <a:srgbClr val="FF0000"/>
                </a:solidFill>
                <a:latin typeface="Archivo Black"/>
                <a:ea typeface="Archivo Black"/>
                <a:cs typeface="Archivo Black"/>
                <a:sym typeface="Archivo Black"/>
              </a:rPr>
              <a:t>PROGRESS</a:t>
            </a:r>
          </a:p>
        </p:txBody>
      </p:sp>
      <p:sp>
        <p:nvSpPr>
          <p:cNvPr id="13" name="Freeform 13"/>
          <p:cNvSpPr/>
          <p:nvPr/>
        </p:nvSpPr>
        <p:spPr>
          <a:xfrm>
            <a:off x="-531305" y="-884593"/>
            <a:ext cx="19350610" cy="9008186"/>
          </a:xfrm>
          <a:custGeom>
            <a:avLst/>
            <a:gdLst/>
            <a:ahLst/>
            <a:cxnLst/>
            <a:rect l="l" t="t" r="r" b="b"/>
            <a:pathLst>
              <a:path w="19350610" h="9008186">
                <a:moveTo>
                  <a:pt x="0" y="0"/>
                </a:moveTo>
                <a:lnTo>
                  <a:pt x="19350610" y="0"/>
                </a:lnTo>
                <a:lnTo>
                  <a:pt x="19350610" y="9008187"/>
                </a:lnTo>
                <a:lnTo>
                  <a:pt x="0" y="90081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981200" y="7539351"/>
            <a:ext cx="1340392" cy="1151900"/>
          </a:xfrm>
          <a:custGeom>
            <a:avLst/>
            <a:gdLst/>
            <a:ahLst/>
            <a:cxnLst/>
            <a:rect l="l" t="t" r="r" b="b"/>
            <a:pathLst>
              <a:path w="1340392" h="1151900">
                <a:moveTo>
                  <a:pt x="0" y="0"/>
                </a:moveTo>
                <a:lnTo>
                  <a:pt x="1340392" y="0"/>
                </a:lnTo>
                <a:lnTo>
                  <a:pt x="1340392" y="1151900"/>
                </a:lnTo>
                <a:lnTo>
                  <a:pt x="0" y="11519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06</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663479" y="1028700"/>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2557267" y="298927"/>
            <a:ext cx="13685180" cy="831890"/>
          </a:xfrm>
          <a:prstGeom prst="rect">
            <a:avLst/>
          </a:prstGeom>
        </p:spPr>
        <p:txBody>
          <a:bodyPr lIns="0" tIns="0" rIns="0" bIns="0" rtlCol="0" anchor="t">
            <a:spAutoFit/>
          </a:bodyPr>
          <a:lstStyle/>
          <a:p>
            <a:pPr algn="l">
              <a:lnSpc>
                <a:spcPts val="6480"/>
              </a:lnSpc>
            </a:pPr>
            <a:r>
              <a:rPr lang="en-US" sz="5400" spc="50">
                <a:solidFill>
                  <a:srgbClr val="FF0000"/>
                </a:solidFill>
                <a:latin typeface="TT Rounds Condensed Bold"/>
                <a:ea typeface="TT Rounds Condensed Bold"/>
                <a:cs typeface="TT Rounds Condensed Bold"/>
                <a:sym typeface="TT Rounds Condensed Bold"/>
              </a:rPr>
              <a:t>WHAT WE DID SO FAR?</a:t>
            </a:r>
          </a:p>
        </p:txBody>
      </p:sp>
      <p:sp>
        <p:nvSpPr>
          <p:cNvPr id="15" name="TextBox 15"/>
          <p:cNvSpPr txBox="1"/>
          <p:nvPr/>
        </p:nvSpPr>
        <p:spPr>
          <a:xfrm>
            <a:off x="314358" y="1284332"/>
            <a:ext cx="16282001" cy="8566606"/>
          </a:xfrm>
          <a:prstGeom prst="rect">
            <a:avLst/>
          </a:prstGeom>
        </p:spPr>
        <p:txBody>
          <a:bodyPr lIns="0" tIns="0" rIns="0" bIns="0" rtlCol="0" anchor="t">
            <a:spAutoFit/>
          </a:bodyPr>
          <a:lstStyle/>
          <a:p>
            <a:pPr marL="530860" lvl="1" indent="-265430" algn="l">
              <a:lnSpc>
                <a:spcPts val="5280"/>
              </a:lnSpc>
              <a:buAutoNum type="arabicPeriod"/>
            </a:pPr>
            <a:r>
              <a:rPr lang="en-US" sz="4400" u="sng" spc="41">
                <a:solidFill>
                  <a:srgbClr val="000000"/>
                </a:solidFill>
                <a:latin typeface="TT Rounds Condensed Bold"/>
                <a:ea typeface="TT Rounds Condensed Bold"/>
                <a:cs typeface="TT Rounds Condensed Bold"/>
                <a:sym typeface="TT Rounds Condensed Bold"/>
              </a:rPr>
              <a:t>FAMILIARIZING WITH NVIDIA JESTON DEVELOPMENT BOARD</a:t>
            </a:r>
          </a:p>
          <a:p>
            <a:pPr marL="530860" lvl="1" indent="-265430" algn="l">
              <a:lnSpc>
                <a:spcPts val="5280"/>
              </a:lnSpc>
            </a:pPr>
            <a:endParaRPr lang="en-US" sz="4400" u="sng" spc="41">
              <a:solidFill>
                <a:srgbClr val="000000"/>
              </a:solidFill>
              <a:latin typeface="TT Rounds Condensed Bold"/>
              <a:ea typeface="TT Rounds Condensed Bold"/>
              <a:cs typeface="TT Rounds Condensed Bold"/>
              <a:sym typeface="TT Rounds Condensed Bold"/>
            </a:endParaRP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One popular product in the Jetson family</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Jetson modules are based on NVIDIA's CUDA architecture.</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Power mode 25W.</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NVIDIA provides a comprehensive software stack for Jetson modules</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CUDA Toolkit – 11.4.315</a:t>
            </a: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JetPack – 5.1.1</a:t>
            </a:r>
          </a:p>
          <a:p>
            <a:pPr marL="530860" lvl="1" indent="-265430" algn="l">
              <a:lnSpc>
                <a:spcPts val="5280"/>
              </a:lnSpc>
            </a:pPr>
            <a:endParaRPr lang="en-US" sz="4400" spc="41">
              <a:solidFill>
                <a:srgbClr val="000000"/>
              </a:solidFill>
              <a:latin typeface="TT Rounds Condensed"/>
              <a:ea typeface="TT Rounds Condensed"/>
              <a:cs typeface="TT Rounds Condensed"/>
              <a:sym typeface="TT Rounds Condensed"/>
            </a:endParaRPr>
          </a:p>
          <a:p>
            <a:pPr marL="530860" lvl="1" indent="-265430" algn="l">
              <a:lnSpc>
                <a:spcPts val="5280"/>
              </a:lnSpc>
            </a:pPr>
            <a:endParaRPr lang="en-US" sz="4400" spc="41">
              <a:solidFill>
                <a:srgbClr val="000000"/>
              </a:solidFill>
              <a:latin typeface="TT Rounds Condensed"/>
              <a:ea typeface="TT Rounds Condensed"/>
              <a:cs typeface="TT Rounds Condensed"/>
              <a:sym typeface="TT Rounds Condensed"/>
            </a:endParaRPr>
          </a:p>
          <a:p>
            <a:pPr marL="530860" lvl="1" indent="-265430" algn="l">
              <a:lnSpc>
                <a:spcPts val="5280"/>
              </a:lnSpc>
              <a:buFont typeface="Arial"/>
              <a:buChar char="•"/>
            </a:pPr>
            <a:r>
              <a:rPr lang="en-US" sz="4400" spc="41">
                <a:solidFill>
                  <a:srgbClr val="000000"/>
                </a:solidFill>
                <a:latin typeface="TT Rounds Condensed"/>
                <a:ea typeface="TT Rounds Condensed"/>
                <a:cs typeface="TT Rounds Condensed"/>
                <a:sym typeface="TT Rounds Condensed"/>
              </a:rPr>
              <a:t>Simple we can get these details by commanding as </a:t>
            </a:r>
            <a:r>
              <a:rPr lang="en-US" sz="4400" u="sng" spc="41">
                <a:solidFill>
                  <a:srgbClr val="000000"/>
                </a:solidFill>
                <a:latin typeface="TT Rounds Condensed"/>
                <a:ea typeface="TT Rounds Condensed"/>
                <a:cs typeface="TT Rounds Condensed"/>
                <a:sym typeface="TT Rounds Condensed"/>
              </a:rPr>
              <a:t>jtop</a:t>
            </a:r>
            <a:r>
              <a:rPr lang="en-US" sz="4400" spc="41">
                <a:solidFill>
                  <a:srgbClr val="000000"/>
                </a:solidFill>
                <a:latin typeface="TT Rounds Condensed"/>
                <a:ea typeface="TT Rounds Condensed"/>
                <a:cs typeface="TT Rounds Condensed"/>
                <a:sym typeface="TT Rounds Condensed"/>
              </a:rPr>
              <a:t> on jetson node.</a:t>
            </a:r>
          </a:p>
          <a:p>
            <a:pPr marL="530860" lvl="1" indent="-265430" algn="l">
              <a:lnSpc>
                <a:spcPts val="5280"/>
              </a:lnSpc>
            </a:pPr>
            <a:endParaRPr lang="en-US" sz="4400" spc="41">
              <a:solidFill>
                <a:srgbClr val="000000"/>
              </a:solidFill>
              <a:latin typeface="TT Rounds Condensed"/>
              <a:ea typeface="TT Rounds Condensed"/>
              <a:cs typeface="TT Rounds Condensed"/>
              <a:sym typeface="TT Rounds Condensed"/>
            </a:endParaRPr>
          </a:p>
          <a:p>
            <a:pPr marL="217170" lvl="1" indent="-108585" algn="l">
              <a:lnSpc>
                <a:spcPts val="2160"/>
              </a:lnSpc>
            </a:pPr>
            <a:r>
              <a:rPr lang="en-US" sz="1800" spc="16">
                <a:solidFill>
                  <a:srgbClr val="000000"/>
                </a:solidFill>
                <a:latin typeface="TT Rounds Condensed"/>
                <a:ea typeface="TT Rounds Condensed"/>
                <a:cs typeface="TT Rounds Condensed"/>
                <a:sym typeface="TT Rounds Condensed"/>
              </a:rPr>
              <a:t> </a:t>
            </a:r>
          </a:p>
        </p:txBody>
      </p:sp>
      <p:sp>
        <p:nvSpPr>
          <p:cNvPr id="16" name="Freeform 16"/>
          <p:cNvSpPr/>
          <p:nvPr/>
        </p:nvSpPr>
        <p:spPr>
          <a:xfrm>
            <a:off x="9917089" y="5143500"/>
            <a:ext cx="5551510" cy="2797760"/>
          </a:xfrm>
          <a:custGeom>
            <a:avLst/>
            <a:gdLst/>
            <a:ahLst/>
            <a:cxnLst/>
            <a:rect l="l" t="t" r="r" b="b"/>
            <a:pathLst>
              <a:path w="5551510" h="2797760">
                <a:moveTo>
                  <a:pt x="0" y="0"/>
                </a:moveTo>
                <a:lnTo>
                  <a:pt x="5551510" y="0"/>
                </a:lnTo>
                <a:lnTo>
                  <a:pt x="5551510" y="2797760"/>
                </a:lnTo>
                <a:lnTo>
                  <a:pt x="0" y="2797760"/>
                </a:lnTo>
                <a:lnTo>
                  <a:pt x="0" y="0"/>
                </a:lnTo>
                <a:close/>
              </a:path>
            </a:pathLst>
          </a:custGeom>
          <a:blipFill>
            <a:blip r:embed="rId9"/>
            <a:stretch>
              <a:fillRect/>
            </a:stretch>
          </a:blipFill>
        </p:spPr>
      </p:sp>
      <p:sp>
        <p:nvSpPr>
          <p:cNvPr id="17" name="Freeform 17"/>
          <p:cNvSpPr/>
          <p:nvPr/>
        </p:nvSpPr>
        <p:spPr>
          <a:xfrm>
            <a:off x="15163184" y="264528"/>
            <a:ext cx="2339747" cy="3119663"/>
          </a:xfrm>
          <a:custGeom>
            <a:avLst/>
            <a:gdLst/>
            <a:ahLst/>
            <a:cxnLst/>
            <a:rect l="l" t="t" r="r" b="b"/>
            <a:pathLst>
              <a:path w="2339747" h="3119663">
                <a:moveTo>
                  <a:pt x="0" y="0"/>
                </a:moveTo>
                <a:lnTo>
                  <a:pt x="2339747" y="0"/>
                </a:lnTo>
                <a:lnTo>
                  <a:pt x="2339747" y="3119663"/>
                </a:lnTo>
                <a:lnTo>
                  <a:pt x="0" y="3119663"/>
                </a:lnTo>
                <a:lnTo>
                  <a:pt x="0" y="0"/>
                </a:lnTo>
                <a:close/>
              </a:path>
            </a:pathLst>
          </a:custGeom>
          <a:blipFill>
            <a:blip r:embed="rId10"/>
            <a:stretch>
              <a:fillRect/>
            </a:stretch>
          </a:blipFill>
        </p:spPr>
      </p:sp>
      <p:sp>
        <p:nvSpPr>
          <p:cNvPr id="18" name="TextBox 18"/>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07</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23008" y="45843"/>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1477458" y="1007741"/>
            <a:ext cx="16314151" cy="8043386"/>
          </a:xfrm>
          <a:prstGeom prst="rect">
            <a:avLst/>
          </a:prstGeom>
        </p:spPr>
        <p:txBody>
          <a:bodyPr lIns="0" tIns="0" rIns="0" bIns="0" rtlCol="0" anchor="t">
            <a:spAutoFit/>
          </a:bodyPr>
          <a:lstStyle/>
          <a:p>
            <a:pPr algn="l">
              <a:lnSpc>
                <a:spcPts val="5280"/>
              </a:lnSpc>
            </a:pPr>
            <a:r>
              <a:rPr lang="en-US" sz="4400" u="sng" spc="41">
                <a:solidFill>
                  <a:srgbClr val="000000"/>
                </a:solidFill>
                <a:latin typeface="TT Rounds Condensed Bold"/>
                <a:ea typeface="TT Rounds Condensed Bold"/>
                <a:cs typeface="TT Rounds Condensed Bold"/>
                <a:sym typeface="TT Rounds Condensed Bold"/>
              </a:rPr>
              <a:t>2. TRAINING THE MODEL USING THE AVAILABLE DATASET</a:t>
            </a:r>
          </a:p>
          <a:p>
            <a:pPr algn="l">
              <a:lnSpc>
                <a:spcPts val="2160"/>
              </a:lnSpc>
            </a:pPr>
            <a:r>
              <a:rPr lang="en-US" sz="1800" spc="16">
                <a:solidFill>
                  <a:srgbClr val="000000"/>
                </a:solidFill>
                <a:latin typeface="TT Rounds Condensed"/>
                <a:ea typeface="TT Rounds Condensed"/>
                <a:cs typeface="TT Rounds Condensed"/>
                <a:sym typeface="TT Rounds Condensed"/>
              </a:rPr>
              <a:t> </a:t>
            </a:r>
          </a:p>
          <a:p>
            <a:pPr algn="l">
              <a:lnSpc>
                <a:spcPts val="3359"/>
              </a:lnSpc>
            </a:pPr>
            <a:r>
              <a:rPr lang="en-US" sz="2799" spc="26">
                <a:solidFill>
                  <a:srgbClr val="000000"/>
                </a:solidFill>
                <a:latin typeface="TT Rounds Condensed"/>
                <a:ea typeface="TT Rounds Condensed"/>
                <a:cs typeface="TT Rounds Condensed"/>
                <a:sym typeface="TT Rounds Condensed"/>
              </a:rPr>
              <a:t>Two programs were used.</a:t>
            </a:r>
          </a:p>
          <a:p>
            <a:pPr marL="434340" lvl="1" indent="-217170" algn="l">
              <a:lnSpc>
                <a:spcPts val="4320"/>
              </a:lnSpc>
              <a:buFont typeface="Arial"/>
              <a:buChar char="•"/>
            </a:pPr>
            <a:r>
              <a:rPr lang="en-US" sz="3600" spc="33">
                <a:solidFill>
                  <a:srgbClr val="000000"/>
                </a:solidFill>
                <a:latin typeface="TT Rounds Condensed Bold"/>
                <a:ea typeface="TT Rounds Condensed Bold"/>
                <a:cs typeface="TT Rounds Condensed Bold"/>
                <a:sym typeface="TT Rounds Condensed Bold"/>
              </a:rPr>
              <a:t>yoloV5</a:t>
            </a:r>
          </a:p>
          <a:p>
            <a:pPr marL="434340" lvl="1" indent="-217170" algn="l">
              <a:lnSpc>
                <a:spcPts val="4320"/>
              </a:lnSpc>
              <a:buFont typeface="Arial"/>
              <a:buChar char="•"/>
            </a:pPr>
            <a:r>
              <a:rPr lang="en-US" sz="3600" spc="33">
                <a:solidFill>
                  <a:srgbClr val="000000"/>
                </a:solidFill>
                <a:latin typeface="TT Rounds Condensed Bold"/>
                <a:ea typeface="TT Rounds Condensed Bold"/>
                <a:cs typeface="TT Rounds Condensed Bold"/>
                <a:sym typeface="TT Rounds Condensed Bold"/>
              </a:rPr>
              <a:t>yoloV5_BEV</a:t>
            </a:r>
          </a:p>
          <a:p>
            <a:pPr marL="386080" lvl="1" indent="-193040" algn="l">
              <a:lnSpc>
                <a:spcPts val="3840"/>
              </a:lnSpc>
            </a:pPr>
            <a:endParaRPr lang="en-US" sz="3600" spc="33">
              <a:solidFill>
                <a:srgbClr val="000000"/>
              </a:solidFill>
              <a:latin typeface="TT Rounds Condensed Bold"/>
              <a:ea typeface="TT Rounds Condensed Bold"/>
              <a:cs typeface="TT Rounds Condensed Bold"/>
              <a:sym typeface="TT Rounds Condensed Bold"/>
            </a:endParaRPr>
          </a:p>
          <a:p>
            <a:pPr marL="337820" lvl="1" indent="-168910" algn="l">
              <a:lnSpc>
                <a:spcPts val="3359"/>
              </a:lnSpc>
            </a:pPr>
            <a:r>
              <a:rPr lang="en-US" sz="2799" spc="26">
                <a:solidFill>
                  <a:srgbClr val="000000"/>
                </a:solidFill>
                <a:latin typeface="TT Rounds Condensed"/>
                <a:ea typeface="TT Rounds Condensed"/>
                <a:cs typeface="TT Rounds Condensed"/>
                <a:sym typeface="TT Rounds Condensed"/>
              </a:rPr>
              <a:t>Dataset used </a:t>
            </a:r>
          </a:p>
          <a:p>
            <a:pPr marL="386080" lvl="1" indent="-193040" algn="l">
              <a:lnSpc>
                <a:spcPts val="3840"/>
              </a:lnSpc>
              <a:buFont typeface="Arial"/>
              <a:buChar char="•"/>
            </a:pPr>
            <a:r>
              <a:rPr lang="en-US" sz="3200" spc="29">
                <a:solidFill>
                  <a:srgbClr val="000000"/>
                </a:solidFill>
                <a:latin typeface="TT Rounds Condensed Bold"/>
                <a:ea typeface="TT Rounds Condensed Bold"/>
                <a:cs typeface="TT Rounds Condensed Bold"/>
                <a:sym typeface="TT Rounds Condensed Bold"/>
              </a:rPr>
              <a:t>COCO DATA SET</a:t>
            </a:r>
          </a:p>
          <a:p>
            <a:pPr marL="337820" lvl="1" indent="-168910" algn="l">
              <a:lnSpc>
                <a:spcPts val="3359"/>
              </a:lnSpc>
            </a:pPr>
            <a:r>
              <a:rPr lang="en-US" sz="2799" spc="26">
                <a:solidFill>
                  <a:srgbClr val="000000"/>
                </a:solidFill>
                <a:latin typeface="TT Rounds Condensed"/>
                <a:ea typeface="TT Rounds Condensed"/>
                <a:cs typeface="TT Rounds Condensed"/>
                <a:sym typeface="TT Rounds Condensed"/>
              </a:rPr>
              <a:t>(80 object categories)</a:t>
            </a:r>
          </a:p>
          <a:p>
            <a:pPr marL="386080" lvl="1" indent="-193040" algn="l">
              <a:lnSpc>
                <a:spcPts val="3840"/>
              </a:lnSpc>
            </a:pPr>
            <a:endParaRPr lang="en-US" sz="2799" spc="26">
              <a:solidFill>
                <a:srgbClr val="000000"/>
              </a:solidFill>
              <a:latin typeface="TT Rounds Condensed"/>
              <a:ea typeface="TT Rounds Condensed"/>
              <a:cs typeface="TT Rounds Condensed"/>
              <a:sym typeface="TT Rounds Condensed"/>
            </a:endParaRPr>
          </a:p>
          <a:p>
            <a:pPr marL="386080" lvl="1" indent="-193040" algn="l">
              <a:lnSpc>
                <a:spcPts val="3840"/>
              </a:lnSpc>
            </a:pPr>
            <a:r>
              <a:rPr lang="en-US" sz="3200" spc="29">
                <a:solidFill>
                  <a:srgbClr val="000000"/>
                </a:solidFill>
                <a:latin typeface="TT Rounds Condensed"/>
                <a:ea typeface="TT Rounds Condensed"/>
                <a:cs typeface="TT Rounds Condensed"/>
                <a:sym typeface="TT Rounds Condensed"/>
              </a:rPr>
              <a:t>Why we trained these models?</a:t>
            </a:r>
          </a:p>
          <a:p>
            <a:pPr marL="530860" lvl="1" indent="-265430" algn="l">
              <a:lnSpc>
                <a:spcPts val="5280"/>
              </a:lnSpc>
              <a:buFont typeface="Arial"/>
              <a:buChar char="•"/>
            </a:pPr>
            <a:r>
              <a:rPr lang="en-US" sz="4400" spc="41">
                <a:solidFill>
                  <a:srgbClr val="FF0000"/>
                </a:solidFill>
                <a:latin typeface="TT Rounds Condensed"/>
                <a:ea typeface="TT Rounds Condensed"/>
                <a:cs typeface="TT Rounds Condensed"/>
                <a:sym typeface="TT Rounds Condensed"/>
              </a:rPr>
              <a:t>For object detection</a:t>
            </a:r>
            <a:r>
              <a:rPr lang="en-US" sz="4400" spc="41">
                <a:solidFill>
                  <a:srgbClr val="000000"/>
                </a:solidFill>
                <a:latin typeface="TT Rounds Condensed"/>
                <a:ea typeface="TT Rounds Condensed"/>
                <a:cs typeface="TT Rounds Condensed"/>
                <a:sym typeface="TT Rounds Condensed"/>
              </a:rPr>
              <a:t>.</a:t>
            </a:r>
          </a:p>
          <a:p>
            <a:pPr marL="217170" lvl="1" indent="-108585" algn="l">
              <a:lnSpc>
                <a:spcPts val="2160"/>
              </a:lnSpc>
            </a:pPr>
            <a:r>
              <a:rPr lang="en-US" sz="1800" spc="16">
                <a:solidFill>
                  <a:srgbClr val="000000"/>
                </a:solidFill>
                <a:latin typeface="TT Rounds Condensed"/>
                <a:ea typeface="TT Rounds Condensed"/>
                <a:cs typeface="TT Rounds Condensed"/>
                <a:sym typeface="TT Rounds Condensed"/>
              </a:rPr>
              <a:t> </a:t>
            </a:r>
          </a:p>
          <a:p>
            <a:pPr marL="386080" lvl="1" indent="-193040" algn="l">
              <a:lnSpc>
                <a:spcPts val="3840"/>
              </a:lnSpc>
              <a:buFont typeface="Arial"/>
              <a:buChar char="•"/>
            </a:pPr>
            <a:r>
              <a:rPr lang="en-US" sz="3200" spc="29">
                <a:solidFill>
                  <a:srgbClr val="000000"/>
                </a:solidFill>
                <a:latin typeface="TT Rounds Condensed"/>
                <a:ea typeface="TT Rounds Condensed"/>
                <a:cs typeface="TT Rounds Condensed"/>
                <a:sym typeface="TT Rounds Condensed"/>
              </a:rPr>
              <a:t>Yolov5s  and yolo5x  PyTorch model files  were used.</a:t>
            </a:r>
          </a:p>
          <a:p>
            <a:pPr marL="386080" lvl="1" indent="-193040" algn="l">
              <a:lnSpc>
                <a:spcPts val="3840"/>
              </a:lnSpc>
              <a:buFont typeface="Arial"/>
              <a:buChar char="•"/>
            </a:pPr>
            <a:r>
              <a:rPr lang="en-US" sz="3200" spc="29">
                <a:solidFill>
                  <a:srgbClr val="000000"/>
                </a:solidFill>
                <a:latin typeface="TT Rounds Condensed"/>
                <a:ea typeface="TT Rounds Condensed"/>
                <a:cs typeface="TT Rounds Condensed"/>
                <a:sym typeface="TT Rounds Condensed"/>
              </a:rPr>
              <a:t>the YOLOv5x model is larger and more powerful than the YOLOv5s model. It has a higher accuracy</a:t>
            </a:r>
          </a:p>
          <a:p>
            <a:pPr marL="386080" lvl="1" indent="-193040" algn="l">
              <a:lnSpc>
                <a:spcPts val="3840"/>
              </a:lnSpc>
            </a:pPr>
            <a:endParaRPr lang="en-US" sz="3200" spc="29">
              <a:solidFill>
                <a:srgbClr val="000000"/>
              </a:solidFill>
              <a:latin typeface="TT Rounds Condensed"/>
              <a:ea typeface="TT Rounds Condensed"/>
              <a:cs typeface="TT Rounds Condensed"/>
              <a:sym typeface="TT Rounds Condensed"/>
            </a:endParaRPr>
          </a:p>
          <a:p>
            <a:pPr marL="386080" lvl="1" indent="-193040" algn="l">
              <a:lnSpc>
                <a:spcPts val="3840"/>
              </a:lnSpc>
            </a:pPr>
            <a:endParaRPr lang="en-US" sz="3200" spc="29">
              <a:solidFill>
                <a:srgbClr val="000000"/>
              </a:solidFill>
              <a:latin typeface="TT Rounds Condensed"/>
              <a:ea typeface="TT Rounds Condensed"/>
              <a:cs typeface="TT Rounds Condensed"/>
              <a:sym typeface="TT Rounds Condensed"/>
            </a:endParaRPr>
          </a:p>
        </p:txBody>
      </p:sp>
      <p:sp>
        <p:nvSpPr>
          <p:cNvPr id="15" name="Freeform 15"/>
          <p:cNvSpPr/>
          <p:nvPr/>
        </p:nvSpPr>
        <p:spPr>
          <a:xfrm>
            <a:off x="6933318" y="2747394"/>
            <a:ext cx="10949731" cy="1795595"/>
          </a:xfrm>
          <a:custGeom>
            <a:avLst/>
            <a:gdLst/>
            <a:ahLst/>
            <a:cxnLst/>
            <a:rect l="l" t="t" r="r" b="b"/>
            <a:pathLst>
              <a:path w="10949731" h="1795595">
                <a:moveTo>
                  <a:pt x="0" y="0"/>
                </a:moveTo>
                <a:lnTo>
                  <a:pt x="10949731" y="0"/>
                </a:lnTo>
                <a:lnTo>
                  <a:pt x="10949731" y="1795595"/>
                </a:lnTo>
                <a:lnTo>
                  <a:pt x="0" y="1795595"/>
                </a:lnTo>
                <a:lnTo>
                  <a:pt x="0" y="0"/>
                </a:lnTo>
                <a:close/>
              </a:path>
            </a:pathLst>
          </a:custGeom>
          <a:blipFill>
            <a:blip r:embed="rId9"/>
            <a:stretch>
              <a:fillRect t="-4555" b="-4555"/>
            </a:stretch>
          </a:blipFill>
        </p:spPr>
      </p:sp>
      <p:sp>
        <p:nvSpPr>
          <p:cNvPr id="16" name="TextBox 16"/>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08</a:t>
            </a:r>
          </a:p>
        </p:txBody>
      </p:sp>
      <p:sp>
        <p:nvSpPr>
          <p:cNvPr id="17" name="Freeform 17"/>
          <p:cNvSpPr/>
          <p:nvPr/>
        </p:nvSpPr>
        <p:spPr>
          <a:xfrm>
            <a:off x="6933316" y="4712932"/>
            <a:ext cx="10949731" cy="1234658"/>
          </a:xfrm>
          <a:custGeom>
            <a:avLst/>
            <a:gdLst/>
            <a:ahLst/>
            <a:cxnLst/>
            <a:rect l="l" t="t" r="r" b="b"/>
            <a:pathLst>
              <a:path w="10949731" h="1234658">
                <a:moveTo>
                  <a:pt x="0" y="0"/>
                </a:moveTo>
                <a:lnTo>
                  <a:pt x="10949731" y="0"/>
                </a:lnTo>
                <a:lnTo>
                  <a:pt x="10949731" y="1234658"/>
                </a:lnTo>
                <a:lnTo>
                  <a:pt x="0" y="1234658"/>
                </a:lnTo>
                <a:lnTo>
                  <a:pt x="0" y="0"/>
                </a:lnTo>
                <a:close/>
              </a:path>
            </a:pathLst>
          </a:custGeom>
          <a:blipFill>
            <a:blip r:embed="rId10"/>
            <a:stretch>
              <a:fillRect t="-4287" b="-4287"/>
            </a:stretch>
          </a:blipFill>
        </p:spPr>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143000" y="2705100"/>
            <a:ext cx="7262752" cy="6716076"/>
          </a:xfrm>
          <a:custGeom>
            <a:avLst/>
            <a:gdLst/>
            <a:ahLst/>
            <a:cxnLst/>
            <a:rect l="l" t="t" r="r" b="b"/>
            <a:pathLst>
              <a:path w="7262752" h="6716076">
                <a:moveTo>
                  <a:pt x="0" y="0"/>
                </a:moveTo>
                <a:lnTo>
                  <a:pt x="7262752" y="0"/>
                </a:lnTo>
                <a:lnTo>
                  <a:pt x="7262752" y="6716076"/>
                </a:lnTo>
                <a:lnTo>
                  <a:pt x="0" y="6716076"/>
                </a:lnTo>
                <a:lnTo>
                  <a:pt x="0" y="0"/>
                </a:lnTo>
                <a:close/>
              </a:path>
            </a:pathLst>
          </a:custGeom>
          <a:blipFill>
            <a:blip r:embed="rId2"/>
            <a:stretch>
              <a:fillRect l="-19239" r="-19239"/>
            </a:stretch>
          </a:blipFill>
        </p:spPr>
      </p:sp>
      <p:sp>
        <p:nvSpPr>
          <p:cNvPr id="12" name="Freeform 12"/>
          <p:cNvSpPr/>
          <p:nvPr/>
        </p:nvSpPr>
        <p:spPr>
          <a:xfrm>
            <a:off x="8429198" y="3802545"/>
            <a:ext cx="8512557" cy="4521185"/>
          </a:xfrm>
          <a:custGeom>
            <a:avLst/>
            <a:gdLst/>
            <a:ahLst/>
            <a:cxnLst/>
            <a:rect l="l" t="t" r="r" b="b"/>
            <a:pathLst>
              <a:path w="8512557" h="4521185">
                <a:moveTo>
                  <a:pt x="0" y="0"/>
                </a:moveTo>
                <a:lnTo>
                  <a:pt x="8512557" y="0"/>
                </a:lnTo>
                <a:lnTo>
                  <a:pt x="8512557" y="4521185"/>
                </a:lnTo>
                <a:lnTo>
                  <a:pt x="0" y="4521185"/>
                </a:lnTo>
                <a:lnTo>
                  <a:pt x="0" y="0"/>
                </a:lnTo>
                <a:close/>
              </a:path>
            </a:pathLst>
          </a:custGeom>
          <a:blipFill>
            <a:blip r:embed="rId3"/>
            <a:stretch>
              <a:fillRect l="-89" r="-89"/>
            </a:stretch>
          </a:blipFill>
        </p:spPr>
      </p:sp>
      <p:sp>
        <p:nvSpPr>
          <p:cNvPr id="13" name="TextBox 13"/>
          <p:cNvSpPr txBox="1"/>
          <p:nvPr/>
        </p:nvSpPr>
        <p:spPr>
          <a:xfrm>
            <a:off x="929640" y="418815"/>
            <a:ext cx="14066520" cy="2155329"/>
          </a:xfrm>
          <a:prstGeom prst="rect">
            <a:avLst/>
          </a:prstGeom>
        </p:spPr>
        <p:txBody>
          <a:bodyPr lIns="0" tIns="0" rIns="0" bIns="0" rtlCol="0" anchor="t">
            <a:spAutoFit/>
          </a:bodyPr>
          <a:lstStyle/>
          <a:p>
            <a:pPr marL="337820" lvl="1" indent="-168910" algn="l">
              <a:lnSpc>
                <a:spcPts val="3359"/>
              </a:lnSpc>
              <a:buFont typeface="Arial"/>
              <a:buChar char="•"/>
            </a:pPr>
            <a:r>
              <a:rPr lang="en-US" sz="2799" spc="26">
                <a:solidFill>
                  <a:srgbClr val="000000"/>
                </a:solidFill>
                <a:latin typeface="TT Rounds Condensed"/>
                <a:ea typeface="TT Rounds Condensed"/>
                <a:cs typeface="TT Rounds Condensed"/>
                <a:sym typeface="TT Rounds Condensed"/>
              </a:rPr>
              <a:t>Initially yolov5 was used to detect the object.</a:t>
            </a:r>
          </a:p>
          <a:p>
            <a:pPr marL="337820" lvl="1" indent="-168910" algn="l">
              <a:lnSpc>
                <a:spcPts val="3359"/>
              </a:lnSpc>
              <a:buFont typeface="Arial"/>
              <a:buChar char="•"/>
            </a:pPr>
            <a:r>
              <a:rPr lang="en-US" sz="2799" spc="26">
                <a:solidFill>
                  <a:srgbClr val="000000"/>
                </a:solidFill>
                <a:latin typeface="TT Rounds Condensed"/>
                <a:ea typeface="TT Rounds Condensed"/>
                <a:cs typeface="TT Rounds Condensed"/>
                <a:sym typeface="TT Rounds Condensed"/>
              </a:rPr>
              <a:t> Before deploying the to the jetson card this was done using server terminal.</a:t>
            </a:r>
          </a:p>
          <a:p>
            <a:pPr marL="337820" lvl="1" indent="-168910" algn="l">
              <a:lnSpc>
                <a:spcPts val="3359"/>
              </a:lnSpc>
              <a:buFont typeface="Arial"/>
              <a:buChar char="•"/>
            </a:pPr>
            <a:r>
              <a:rPr lang="en-US" sz="2799" spc="26">
                <a:solidFill>
                  <a:srgbClr val="000000"/>
                </a:solidFill>
                <a:latin typeface="TT Rounds Condensed"/>
                <a:ea typeface="TT Rounds Condensed"/>
                <a:cs typeface="TT Rounds Condensed"/>
                <a:sym typeface="TT Rounds Condensed"/>
              </a:rPr>
              <a:t>We used a video (mp4) as a input source and according to that video object detection was done.</a:t>
            </a:r>
          </a:p>
          <a:p>
            <a:pPr marL="337820" lvl="1" indent="-168910" algn="l">
              <a:lnSpc>
                <a:spcPts val="3359"/>
              </a:lnSpc>
              <a:buFont typeface="Arial"/>
              <a:buChar char="•"/>
            </a:pPr>
            <a:r>
              <a:rPr lang="en-US" sz="2799" spc="26">
                <a:solidFill>
                  <a:srgbClr val="000000"/>
                </a:solidFill>
                <a:latin typeface="TT Rounds Condensed"/>
                <a:ea typeface="TT Rounds Condensed"/>
                <a:cs typeface="TT Rounds Condensed"/>
                <a:sym typeface="TT Rounds Condensed"/>
              </a:rPr>
              <a:t>It showed the inference frame with the time. </a:t>
            </a:r>
          </a:p>
        </p:txBody>
      </p:sp>
      <p:sp>
        <p:nvSpPr>
          <p:cNvPr id="14" name="TextBox 14"/>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09</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374425" y="-572214"/>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876510" y="524484"/>
            <a:ext cx="16607706" cy="5143500"/>
          </a:xfrm>
          <a:prstGeom prst="rect">
            <a:avLst/>
          </a:prstGeom>
        </p:spPr>
        <p:txBody>
          <a:bodyPr lIns="0" tIns="0" rIns="0" bIns="0" rtlCol="0" anchor="t">
            <a:spAutoFit/>
          </a:bodyPr>
          <a:lstStyle/>
          <a:p>
            <a:pPr algn="l">
              <a:lnSpc>
                <a:spcPts val="5280"/>
              </a:lnSpc>
            </a:pPr>
            <a:r>
              <a:rPr lang="en-US" sz="4400" u="sng" spc="41">
                <a:solidFill>
                  <a:srgbClr val="000000"/>
                </a:solidFill>
                <a:latin typeface="TT Rounds Condensed Bold"/>
                <a:ea typeface="TT Rounds Condensed Bold"/>
                <a:cs typeface="TT Rounds Condensed Bold"/>
                <a:sym typeface="TT Rounds Condensed Bold"/>
              </a:rPr>
              <a:t>3. DEPLOYING THE MODELS IN NVIDIA JETSON DEVELOPMENT BOARD</a:t>
            </a:r>
          </a:p>
          <a:p>
            <a:pPr algn="l">
              <a:lnSpc>
                <a:spcPts val="4320"/>
              </a:lnSpc>
            </a:pPr>
            <a:endParaRPr lang="en-US" sz="4400" u="sng" spc="41">
              <a:solidFill>
                <a:srgbClr val="000000"/>
              </a:solidFill>
              <a:latin typeface="TT Rounds Condensed Bold"/>
              <a:ea typeface="TT Rounds Condensed Bold"/>
              <a:cs typeface="TT Rounds Condensed Bold"/>
              <a:sym typeface="TT Rounds Condensed Bold"/>
            </a:endParaRPr>
          </a:p>
          <a:p>
            <a:pPr marL="434340" lvl="1" indent="-217170" algn="l">
              <a:lnSpc>
                <a:spcPts val="4320"/>
              </a:lnSpc>
              <a:buFont typeface="Arial"/>
              <a:buChar char="•"/>
            </a:pPr>
            <a:r>
              <a:rPr lang="en-US" sz="3600" spc="33">
                <a:solidFill>
                  <a:srgbClr val="000000"/>
                </a:solidFill>
                <a:latin typeface="TT Rounds Condensed"/>
                <a:ea typeface="TT Rounds Condensed"/>
                <a:cs typeface="TT Rounds Condensed"/>
                <a:sym typeface="TT Rounds Condensed"/>
              </a:rPr>
              <a:t>We deployed same yolov5 model in jetson orin card. It was successfully deployed. </a:t>
            </a:r>
          </a:p>
          <a:p>
            <a:pPr marL="434340" lvl="1" indent="-217170" algn="l">
              <a:lnSpc>
                <a:spcPts val="4320"/>
              </a:lnSpc>
              <a:buFont typeface="Arial"/>
              <a:buChar char="•"/>
            </a:pPr>
            <a:r>
              <a:rPr lang="en-US" sz="3600" spc="33">
                <a:solidFill>
                  <a:srgbClr val="000000"/>
                </a:solidFill>
                <a:latin typeface="TT Rounds Condensed"/>
                <a:ea typeface="TT Rounds Condensed"/>
                <a:cs typeface="TT Rounds Condensed"/>
                <a:sym typeface="TT Rounds Condensed"/>
              </a:rPr>
              <a:t>Then we changed the input source to  camera input.</a:t>
            </a:r>
          </a:p>
          <a:p>
            <a:pPr marL="434340" lvl="1" indent="-217170" algn="l">
              <a:lnSpc>
                <a:spcPts val="4320"/>
              </a:lnSpc>
              <a:buFont typeface="Arial"/>
              <a:buChar char="•"/>
            </a:pPr>
            <a:r>
              <a:rPr lang="en-US" sz="3600" spc="33">
                <a:solidFill>
                  <a:srgbClr val="000000"/>
                </a:solidFill>
                <a:latin typeface="TT Rounds Condensed"/>
                <a:ea typeface="TT Rounds Condensed"/>
                <a:cs typeface="TT Rounds Condensed"/>
                <a:sym typeface="TT Rounds Condensed"/>
              </a:rPr>
              <a:t>We used  live RTSP camera stream using a mobile phone camera as the source though a mobile app called ‘IP Webcam’.</a:t>
            </a:r>
          </a:p>
          <a:p>
            <a:pPr marL="434340" lvl="1" indent="-217170" algn="l">
              <a:lnSpc>
                <a:spcPts val="4320"/>
              </a:lnSpc>
            </a:pPr>
            <a:endParaRPr lang="en-US" sz="3600" spc="33">
              <a:solidFill>
                <a:srgbClr val="000000"/>
              </a:solidFill>
              <a:latin typeface="TT Rounds Condensed"/>
              <a:ea typeface="TT Rounds Condensed"/>
              <a:cs typeface="TT Rounds Condensed"/>
              <a:sym typeface="TT Rounds Condensed"/>
            </a:endParaRPr>
          </a:p>
          <a:p>
            <a:pPr marL="434340" lvl="1" indent="-217170" algn="l">
              <a:lnSpc>
                <a:spcPts val="4320"/>
              </a:lnSpc>
            </a:pPr>
            <a:endParaRPr lang="en-US" sz="3600" spc="33">
              <a:solidFill>
                <a:srgbClr val="000000"/>
              </a:solidFill>
              <a:latin typeface="TT Rounds Condensed"/>
              <a:ea typeface="TT Rounds Condensed"/>
              <a:cs typeface="TT Rounds Condensed"/>
              <a:sym typeface="TT Rounds Condensed"/>
            </a:endParaRPr>
          </a:p>
        </p:txBody>
      </p:sp>
      <p:sp>
        <p:nvSpPr>
          <p:cNvPr id="15" name="Freeform 15"/>
          <p:cNvSpPr/>
          <p:nvPr/>
        </p:nvSpPr>
        <p:spPr>
          <a:xfrm>
            <a:off x="1524000" y="5541367"/>
            <a:ext cx="6203799" cy="4081065"/>
          </a:xfrm>
          <a:custGeom>
            <a:avLst/>
            <a:gdLst/>
            <a:ahLst/>
            <a:cxnLst/>
            <a:rect l="l" t="t" r="r" b="b"/>
            <a:pathLst>
              <a:path w="6203799" h="4081065">
                <a:moveTo>
                  <a:pt x="0" y="0"/>
                </a:moveTo>
                <a:lnTo>
                  <a:pt x="6203799" y="0"/>
                </a:lnTo>
                <a:lnTo>
                  <a:pt x="6203799" y="4081065"/>
                </a:lnTo>
                <a:lnTo>
                  <a:pt x="0" y="4081065"/>
                </a:lnTo>
                <a:lnTo>
                  <a:pt x="0" y="0"/>
                </a:lnTo>
                <a:close/>
              </a:path>
            </a:pathLst>
          </a:custGeom>
          <a:blipFill>
            <a:blip r:embed="rId9"/>
            <a:stretch>
              <a:fillRect l="-56" r="-56"/>
            </a:stretch>
          </a:blipFill>
        </p:spPr>
      </p:sp>
      <p:sp>
        <p:nvSpPr>
          <p:cNvPr id="16" name="Freeform 16"/>
          <p:cNvSpPr/>
          <p:nvPr/>
        </p:nvSpPr>
        <p:spPr>
          <a:xfrm>
            <a:off x="8466729" y="6041785"/>
            <a:ext cx="8512149" cy="3276600"/>
          </a:xfrm>
          <a:custGeom>
            <a:avLst/>
            <a:gdLst/>
            <a:ahLst/>
            <a:cxnLst/>
            <a:rect l="l" t="t" r="r" b="b"/>
            <a:pathLst>
              <a:path w="8512149" h="3276600">
                <a:moveTo>
                  <a:pt x="0" y="0"/>
                </a:moveTo>
                <a:lnTo>
                  <a:pt x="8512149" y="0"/>
                </a:lnTo>
                <a:lnTo>
                  <a:pt x="8512149" y="3276600"/>
                </a:lnTo>
                <a:lnTo>
                  <a:pt x="0" y="3276600"/>
                </a:lnTo>
                <a:lnTo>
                  <a:pt x="0" y="0"/>
                </a:lnTo>
                <a:close/>
              </a:path>
            </a:pathLst>
          </a:custGeom>
          <a:blipFill>
            <a:blip r:embed="rId10"/>
            <a:stretch>
              <a:fillRect t="-69" b="-69"/>
            </a:stretch>
          </a:blipFill>
        </p:spPr>
      </p:sp>
      <p:sp>
        <p:nvSpPr>
          <p:cNvPr id="17" name="TextBox 17"/>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10</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265774" y="3222566"/>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485808" y="293628"/>
            <a:ext cx="17802192" cy="6076185"/>
          </a:xfrm>
          <a:prstGeom prst="rect">
            <a:avLst/>
          </a:prstGeom>
        </p:spPr>
        <p:txBody>
          <a:bodyPr lIns="0" tIns="0" rIns="0" bIns="0" rtlCol="0" anchor="t">
            <a:spAutoFit/>
          </a:bodyPr>
          <a:lstStyle/>
          <a:p>
            <a:pPr algn="l">
              <a:lnSpc>
                <a:spcPts val="5735"/>
              </a:lnSpc>
            </a:pPr>
            <a:r>
              <a:rPr lang="en-US" sz="4779" u="sng" spc="44" dirty="0">
                <a:solidFill>
                  <a:srgbClr val="000000"/>
                </a:solidFill>
                <a:latin typeface="TT Rounds Condensed Bold"/>
                <a:ea typeface="TT Rounds Condensed Bold"/>
                <a:cs typeface="TT Rounds Condensed Bold"/>
                <a:sym typeface="TT Rounds Condensed Bold"/>
              </a:rPr>
              <a:t>4.GENERATING MAPS</a:t>
            </a:r>
          </a:p>
          <a:p>
            <a:pPr algn="l">
              <a:lnSpc>
                <a:spcPts val="4737"/>
              </a:lnSpc>
            </a:pPr>
            <a:endParaRPr lang="en-US" sz="4779" u="sng" spc="44" dirty="0">
              <a:solidFill>
                <a:srgbClr val="000000"/>
              </a:solidFill>
              <a:latin typeface="TT Rounds Condensed Bold"/>
              <a:ea typeface="TT Rounds Condensed Bold"/>
              <a:cs typeface="TT Rounds Condensed Bold"/>
              <a:sym typeface="TT Rounds Condensed Bold"/>
            </a:endParaRPr>
          </a:p>
          <a:p>
            <a:pPr marL="476359" lvl="1" indent="-238180" algn="l">
              <a:lnSpc>
                <a:spcPts val="4737"/>
              </a:lnSpc>
              <a:buFont typeface="Arial"/>
              <a:buChar char="•"/>
            </a:pPr>
            <a:r>
              <a:rPr lang="en-US" sz="3948" spc="36" dirty="0">
                <a:solidFill>
                  <a:srgbClr val="000000"/>
                </a:solidFill>
                <a:latin typeface="TT Rounds Condensed"/>
                <a:ea typeface="TT Rounds Condensed"/>
                <a:cs typeface="TT Rounds Condensed"/>
                <a:sym typeface="TT Rounds Condensed"/>
              </a:rPr>
              <a:t>After the yoloV5 we move into yoloV5 BEV model</a:t>
            </a:r>
          </a:p>
          <a:p>
            <a:pPr marL="476359" lvl="1" indent="-238180" algn="l">
              <a:lnSpc>
                <a:spcPts val="4737"/>
              </a:lnSpc>
              <a:buFont typeface="Arial"/>
              <a:buChar char="•"/>
            </a:pPr>
            <a:r>
              <a:rPr lang="en-US" sz="3948" spc="36" dirty="0">
                <a:solidFill>
                  <a:srgbClr val="000000"/>
                </a:solidFill>
                <a:latin typeface="TT Rounds Condensed"/>
                <a:ea typeface="TT Rounds Condensed"/>
                <a:cs typeface="TT Rounds Condensed"/>
                <a:sym typeface="TT Rounds Condensed"/>
              </a:rPr>
              <a:t>We were able to generate birds eye view of the driving environment in addition to the object detection done by the yolov5 mode.</a:t>
            </a:r>
          </a:p>
          <a:p>
            <a:pPr marL="476359" lvl="1" indent="-238180" algn="l">
              <a:lnSpc>
                <a:spcPts val="4737"/>
              </a:lnSpc>
              <a:buFont typeface="Arial"/>
              <a:buChar char="•"/>
            </a:pPr>
            <a:r>
              <a:rPr lang="en-US" sz="3948" spc="36" dirty="0">
                <a:solidFill>
                  <a:srgbClr val="000000"/>
                </a:solidFill>
                <a:latin typeface="TT Rounds Condensed"/>
                <a:ea typeface="TT Rounds Condensed"/>
                <a:cs typeface="TT Rounds Condensed"/>
                <a:sym typeface="TT Rounds Condensed"/>
              </a:rPr>
              <a:t>Three maps were generated. Using those maps we can walk to achieve the pre mentioned objectives.</a:t>
            </a:r>
          </a:p>
          <a:p>
            <a:pPr marL="476359" lvl="1" indent="-238180" algn="l">
              <a:lnSpc>
                <a:spcPts val="4737"/>
              </a:lnSpc>
            </a:pPr>
            <a:endParaRPr lang="en-US" sz="3948" spc="36" dirty="0">
              <a:solidFill>
                <a:srgbClr val="000000"/>
              </a:solidFill>
              <a:latin typeface="TT Rounds Condensed"/>
              <a:ea typeface="TT Rounds Condensed"/>
              <a:cs typeface="TT Rounds Condensed"/>
              <a:sym typeface="TT Rounds Condensed"/>
            </a:endParaRPr>
          </a:p>
          <a:p>
            <a:pPr marL="476359" lvl="1" indent="-238180" algn="l">
              <a:lnSpc>
                <a:spcPts val="4737"/>
              </a:lnSpc>
            </a:pPr>
            <a:endParaRPr lang="en-US" sz="3948" spc="36" dirty="0">
              <a:solidFill>
                <a:srgbClr val="000000"/>
              </a:solidFill>
              <a:latin typeface="TT Rounds Condensed"/>
              <a:ea typeface="TT Rounds Condensed"/>
              <a:cs typeface="TT Rounds Condensed"/>
              <a:sym typeface="TT Rounds Condensed"/>
            </a:endParaRPr>
          </a:p>
          <a:p>
            <a:pPr marL="476359" lvl="1" indent="-238180" algn="l">
              <a:lnSpc>
                <a:spcPts val="4737"/>
              </a:lnSpc>
            </a:pPr>
            <a:endParaRPr lang="en-US" sz="3948" spc="36" dirty="0">
              <a:solidFill>
                <a:srgbClr val="000000"/>
              </a:solidFill>
              <a:latin typeface="TT Rounds Condensed"/>
              <a:ea typeface="TT Rounds Condensed"/>
              <a:cs typeface="TT Rounds Condensed"/>
              <a:sym typeface="TT Rounds Condensed"/>
            </a:endParaRPr>
          </a:p>
        </p:txBody>
      </p:sp>
      <p:sp>
        <p:nvSpPr>
          <p:cNvPr id="15" name="Freeform 15"/>
          <p:cNvSpPr/>
          <p:nvPr/>
        </p:nvSpPr>
        <p:spPr>
          <a:xfrm>
            <a:off x="851373" y="4762500"/>
            <a:ext cx="6779942" cy="4149438"/>
          </a:xfrm>
          <a:custGeom>
            <a:avLst/>
            <a:gdLst/>
            <a:ahLst/>
            <a:cxnLst/>
            <a:rect l="l" t="t" r="r" b="b"/>
            <a:pathLst>
              <a:path w="6779942" h="4149438">
                <a:moveTo>
                  <a:pt x="0" y="0"/>
                </a:moveTo>
                <a:lnTo>
                  <a:pt x="6779942" y="0"/>
                </a:lnTo>
                <a:lnTo>
                  <a:pt x="6779942" y="4149438"/>
                </a:lnTo>
                <a:lnTo>
                  <a:pt x="0" y="4149438"/>
                </a:lnTo>
                <a:lnTo>
                  <a:pt x="0" y="0"/>
                </a:lnTo>
                <a:close/>
              </a:path>
            </a:pathLst>
          </a:custGeom>
          <a:blipFill>
            <a:blip r:embed="rId9"/>
            <a:stretch>
              <a:fillRect t="-8" b="-8"/>
            </a:stretch>
          </a:blipFill>
        </p:spPr>
      </p:sp>
      <p:sp>
        <p:nvSpPr>
          <p:cNvPr id="16" name="Freeform 16"/>
          <p:cNvSpPr/>
          <p:nvPr/>
        </p:nvSpPr>
        <p:spPr>
          <a:xfrm>
            <a:off x="7599438" y="4762500"/>
            <a:ext cx="4430525" cy="4149439"/>
          </a:xfrm>
          <a:custGeom>
            <a:avLst/>
            <a:gdLst/>
            <a:ahLst/>
            <a:cxnLst/>
            <a:rect l="l" t="t" r="r" b="b"/>
            <a:pathLst>
              <a:path w="4430525" h="4149439">
                <a:moveTo>
                  <a:pt x="0" y="0"/>
                </a:moveTo>
                <a:lnTo>
                  <a:pt x="4430525" y="0"/>
                </a:lnTo>
                <a:lnTo>
                  <a:pt x="4430525" y="4149439"/>
                </a:lnTo>
                <a:lnTo>
                  <a:pt x="0" y="4149439"/>
                </a:lnTo>
                <a:lnTo>
                  <a:pt x="0" y="0"/>
                </a:lnTo>
                <a:close/>
              </a:path>
            </a:pathLst>
          </a:custGeom>
          <a:blipFill>
            <a:blip r:embed="rId10"/>
            <a:stretch>
              <a:fillRect l="-68" r="-68"/>
            </a:stretch>
          </a:blipFill>
        </p:spPr>
      </p:sp>
      <p:sp>
        <p:nvSpPr>
          <p:cNvPr id="17" name="Freeform 17"/>
          <p:cNvSpPr/>
          <p:nvPr/>
        </p:nvSpPr>
        <p:spPr>
          <a:xfrm>
            <a:off x="12268200" y="4648074"/>
            <a:ext cx="5650707" cy="4401508"/>
          </a:xfrm>
          <a:custGeom>
            <a:avLst/>
            <a:gdLst/>
            <a:ahLst/>
            <a:cxnLst/>
            <a:rect l="l" t="t" r="r" b="b"/>
            <a:pathLst>
              <a:path w="5650707" h="4401508">
                <a:moveTo>
                  <a:pt x="0" y="0"/>
                </a:moveTo>
                <a:lnTo>
                  <a:pt x="5650707" y="0"/>
                </a:lnTo>
                <a:lnTo>
                  <a:pt x="5650707" y="4401508"/>
                </a:lnTo>
                <a:lnTo>
                  <a:pt x="0" y="4401508"/>
                </a:lnTo>
                <a:lnTo>
                  <a:pt x="0" y="0"/>
                </a:lnTo>
                <a:close/>
              </a:path>
            </a:pathLst>
          </a:custGeom>
          <a:blipFill>
            <a:blip r:embed="rId11"/>
            <a:stretch>
              <a:fillRect/>
            </a:stretch>
          </a:blipFill>
        </p:spPr>
      </p:sp>
      <p:sp>
        <p:nvSpPr>
          <p:cNvPr id="18" name="TextBox 18"/>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11</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TextBox 11"/>
          <p:cNvSpPr txBox="1"/>
          <p:nvPr/>
        </p:nvSpPr>
        <p:spPr>
          <a:xfrm>
            <a:off x="853440" y="226695"/>
            <a:ext cx="14523720" cy="3826847"/>
          </a:xfrm>
          <a:prstGeom prst="rect">
            <a:avLst/>
          </a:prstGeom>
        </p:spPr>
        <p:txBody>
          <a:bodyPr lIns="0" tIns="0" rIns="0" bIns="0" rtlCol="0" anchor="t">
            <a:spAutoFit/>
          </a:bodyPr>
          <a:lstStyle/>
          <a:p>
            <a:pPr algn="l">
              <a:lnSpc>
                <a:spcPts val="5280"/>
              </a:lnSpc>
            </a:pPr>
            <a:r>
              <a:rPr lang="en-US" sz="4400" u="sng" spc="41" dirty="0">
                <a:solidFill>
                  <a:srgbClr val="000000"/>
                </a:solidFill>
                <a:latin typeface="TT Rounds Condensed Bold"/>
                <a:ea typeface="TT Rounds Condensed Bold"/>
                <a:cs typeface="TT Rounds Condensed Bold"/>
                <a:sym typeface="TT Rounds Condensed Bold"/>
              </a:rPr>
              <a:t>5. SPEED LIMIT ASSIST</a:t>
            </a:r>
          </a:p>
          <a:p>
            <a:pPr algn="l">
              <a:lnSpc>
                <a:spcPts val="3840"/>
              </a:lnSpc>
            </a:pPr>
            <a:endParaRPr lang="en-US" sz="4400" u="sng" spc="41" dirty="0">
              <a:solidFill>
                <a:srgbClr val="000000"/>
              </a:solidFill>
              <a:latin typeface="TT Rounds Condensed Bold"/>
              <a:ea typeface="TT Rounds Condensed Bold"/>
              <a:cs typeface="TT Rounds Condensed Bold"/>
              <a:sym typeface="TT Rounds Condensed Bold"/>
            </a:endParaRPr>
          </a:p>
          <a:p>
            <a:pPr marL="386080" lvl="1" indent="-193040" algn="l">
              <a:lnSpc>
                <a:spcPts val="3840"/>
              </a:lnSpc>
              <a:buFont typeface="Arial"/>
              <a:buChar char="•"/>
            </a:pPr>
            <a:r>
              <a:rPr lang="en-US" sz="3200" spc="29" dirty="0">
                <a:solidFill>
                  <a:srgbClr val="000000"/>
                </a:solidFill>
                <a:latin typeface="TT Rounds Condensed"/>
                <a:ea typeface="TT Rounds Condensed"/>
                <a:cs typeface="TT Rounds Condensed"/>
                <a:sym typeface="TT Rounds Condensed"/>
              </a:rPr>
              <a:t>Now we are on the stage of speed limit assist. In here we have trained our model to recognize speed signs on the road. </a:t>
            </a:r>
          </a:p>
          <a:p>
            <a:pPr marL="386080" lvl="1" indent="-193040" algn="l">
              <a:lnSpc>
                <a:spcPts val="3840"/>
              </a:lnSpc>
              <a:buFont typeface="Arial"/>
              <a:buChar char="•"/>
            </a:pPr>
            <a:r>
              <a:rPr lang="en-US" sz="3200" spc="29" dirty="0">
                <a:solidFill>
                  <a:srgbClr val="000000"/>
                </a:solidFill>
                <a:latin typeface="TT Rounds Condensed"/>
                <a:ea typeface="TT Rounds Condensed"/>
                <a:cs typeface="TT Rounds Condensed"/>
                <a:sym typeface="TT Rounds Condensed"/>
              </a:rPr>
              <a:t> it will display on the GUI of the system.</a:t>
            </a:r>
          </a:p>
          <a:p>
            <a:pPr marL="386080" lvl="1" indent="-193040" algn="l">
              <a:lnSpc>
                <a:spcPts val="3840"/>
              </a:lnSpc>
              <a:buFont typeface="Arial"/>
              <a:buChar char="•"/>
            </a:pPr>
            <a:r>
              <a:rPr lang="en-US" sz="3200" spc="29" dirty="0">
                <a:solidFill>
                  <a:srgbClr val="000000"/>
                </a:solidFill>
                <a:latin typeface="TT Rounds Condensed"/>
                <a:ea typeface="TT Rounds Condensed"/>
                <a:cs typeface="TT Rounds Condensed"/>
                <a:sym typeface="TT Rounds Condensed"/>
              </a:rPr>
              <a:t> Then with the comparison, we are going to give alert to the drive if it exceed the speed of speed sign. </a:t>
            </a:r>
          </a:p>
        </p:txBody>
      </p:sp>
      <p:sp>
        <p:nvSpPr>
          <p:cNvPr id="12" name="TextBox 12"/>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12</a:t>
            </a:r>
          </a:p>
        </p:txBody>
      </p:sp>
      <p:sp>
        <p:nvSpPr>
          <p:cNvPr id="13" name="Freeform 13"/>
          <p:cNvSpPr/>
          <p:nvPr/>
        </p:nvSpPr>
        <p:spPr>
          <a:xfrm>
            <a:off x="6705600" y="3771900"/>
            <a:ext cx="9525000" cy="5372696"/>
          </a:xfrm>
          <a:custGeom>
            <a:avLst/>
            <a:gdLst/>
            <a:ahLst/>
            <a:cxnLst/>
            <a:rect l="l" t="t" r="r" b="b"/>
            <a:pathLst>
              <a:path w="9525000" h="5372696">
                <a:moveTo>
                  <a:pt x="0" y="0"/>
                </a:moveTo>
                <a:lnTo>
                  <a:pt x="9525000" y="0"/>
                </a:lnTo>
                <a:lnTo>
                  <a:pt x="9525000" y="5372696"/>
                </a:lnTo>
                <a:lnTo>
                  <a:pt x="0" y="5372696"/>
                </a:lnTo>
                <a:lnTo>
                  <a:pt x="0" y="0"/>
                </a:lnTo>
                <a:close/>
              </a:path>
            </a:pathLst>
          </a:custGeom>
          <a:blipFill>
            <a:blip r:embed="rId2"/>
            <a:stretch>
              <a:fillRect/>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4160501" y="1432220"/>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646349" y="302895"/>
            <a:ext cx="15950010" cy="6276975"/>
          </a:xfrm>
          <a:prstGeom prst="rect">
            <a:avLst/>
          </a:prstGeom>
        </p:spPr>
        <p:txBody>
          <a:bodyPr lIns="0" tIns="0" rIns="0" bIns="0" rtlCol="0" anchor="t">
            <a:spAutoFit/>
          </a:bodyPr>
          <a:lstStyle/>
          <a:p>
            <a:pPr algn="l">
              <a:lnSpc>
                <a:spcPts val="5280"/>
              </a:lnSpc>
            </a:pPr>
            <a:r>
              <a:rPr lang="en-US" sz="4400" u="sng" spc="41" dirty="0">
                <a:solidFill>
                  <a:srgbClr val="000000"/>
                </a:solidFill>
                <a:latin typeface="TT Rounds Condensed Bold"/>
                <a:ea typeface="TT Rounds Condensed Bold"/>
                <a:cs typeface="TT Rounds Condensed Bold"/>
                <a:sym typeface="TT Rounds Condensed Bold"/>
              </a:rPr>
              <a:t>6. Forward collision warning &amp; Automatic headlight control</a:t>
            </a:r>
          </a:p>
          <a:p>
            <a:pPr marL="530860" lvl="1" indent="-265430" algn="l">
              <a:lnSpc>
                <a:spcPts val="5280"/>
              </a:lnSpc>
              <a:buFont typeface="Arial"/>
              <a:buChar char="•"/>
            </a:pPr>
            <a:r>
              <a:rPr lang="en-US" sz="4400" spc="41" dirty="0">
                <a:solidFill>
                  <a:srgbClr val="000000"/>
                </a:solidFill>
                <a:latin typeface="TT Rounds Condensed"/>
                <a:ea typeface="TT Rounds Condensed"/>
                <a:cs typeface="TT Rounds Condensed"/>
                <a:sym typeface="TT Rounds Condensed"/>
              </a:rPr>
              <a:t>Objects in front of the vehicle were identified.</a:t>
            </a:r>
          </a:p>
          <a:p>
            <a:pPr marL="530860" lvl="1" indent="-265430" algn="l">
              <a:lnSpc>
                <a:spcPts val="5280"/>
              </a:lnSpc>
              <a:buFont typeface="Arial"/>
              <a:buChar char="•"/>
            </a:pPr>
            <a:r>
              <a:rPr lang="en-US" sz="4400" spc="41" dirty="0">
                <a:solidFill>
                  <a:srgbClr val="000000"/>
                </a:solidFill>
                <a:latin typeface="TT Rounds Condensed"/>
                <a:ea typeface="TT Rounds Condensed"/>
                <a:cs typeface="TT Rounds Condensed"/>
                <a:sym typeface="TT Rounds Condensed"/>
              </a:rPr>
              <a:t>The distance to each object was estimated using computer vision techniques.</a:t>
            </a:r>
          </a:p>
          <a:p>
            <a:pPr marL="530860" lvl="1" indent="-265430" algn="l">
              <a:lnSpc>
                <a:spcPts val="5280"/>
              </a:lnSpc>
              <a:buFont typeface="Arial"/>
              <a:buChar char="•"/>
            </a:pPr>
            <a:r>
              <a:rPr lang="en-US" sz="4400" spc="41" dirty="0">
                <a:solidFill>
                  <a:srgbClr val="000000"/>
                </a:solidFill>
                <a:latin typeface="TT Rounds Condensed"/>
                <a:ea typeface="TT Rounds Condensed"/>
                <a:cs typeface="TT Rounds Condensed"/>
                <a:sym typeface="TT Rounds Condensed"/>
              </a:rPr>
              <a:t>The time to impact for each object was calculated by dividing the distance to the object by the vehicle's relative speed. If the time to impact for any object was found to be less than a certain threshold, an alert could be provided to the driver.</a:t>
            </a:r>
          </a:p>
          <a:p>
            <a:pPr marL="530860" lvl="1" indent="-265430" algn="l">
              <a:lnSpc>
                <a:spcPts val="5280"/>
              </a:lnSpc>
            </a:pPr>
            <a:endParaRPr lang="en-US" sz="4400" spc="41" dirty="0">
              <a:solidFill>
                <a:srgbClr val="000000"/>
              </a:solidFill>
              <a:latin typeface="TT Rounds Condensed"/>
              <a:ea typeface="TT Rounds Condensed"/>
              <a:cs typeface="TT Rounds Condensed"/>
              <a:sym typeface="TT Rounds Condensed"/>
            </a:endParaRPr>
          </a:p>
          <a:p>
            <a:pPr marL="217170" lvl="1" indent="-108585" algn="l">
              <a:lnSpc>
                <a:spcPts val="2160"/>
              </a:lnSpc>
            </a:pPr>
            <a:r>
              <a:rPr lang="en-US" sz="1800" spc="16" dirty="0">
                <a:solidFill>
                  <a:srgbClr val="000000"/>
                </a:solidFill>
                <a:latin typeface="TT Rounds Condensed"/>
                <a:ea typeface="TT Rounds Condensed"/>
                <a:cs typeface="TT Rounds Condensed"/>
                <a:sym typeface="TT Rounds Condensed"/>
              </a:rPr>
              <a:t> </a:t>
            </a:r>
          </a:p>
        </p:txBody>
      </p:sp>
      <p:sp>
        <p:nvSpPr>
          <p:cNvPr id="15" name="TextBox 15"/>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13</a:t>
            </a:r>
          </a:p>
        </p:txBody>
      </p:sp>
      <p:sp>
        <p:nvSpPr>
          <p:cNvPr id="16" name="Freeform 16"/>
          <p:cNvSpPr/>
          <p:nvPr/>
        </p:nvSpPr>
        <p:spPr>
          <a:xfrm>
            <a:off x="11871960" y="5884593"/>
            <a:ext cx="6324600" cy="3616881"/>
          </a:xfrm>
          <a:custGeom>
            <a:avLst/>
            <a:gdLst/>
            <a:ahLst/>
            <a:cxnLst/>
            <a:rect l="l" t="t" r="r" b="b"/>
            <a:pathLst>
              <a:path w="6324600" h="3616881">
                <a:moveTo>
                  <a:pt x="0" y="0"/>
                </a:moveTo>
                <a:lnTo>
                  <a:pt x="6324600" y="0"/>
                </a:lnTo>
                <a:lnTo>
                  <a:pt x="6324600" y="3616881"/>
                </a:lnTo>
                <a:lnTo>
                  <a:pt x="0" y="3616881"/>
                </a:lnTo>
                <a:lnTo>
                  <a:pt x="0" y="0"/>
                </a:lnTo>
                <a:close/>
              </a:path>
            </a:pathLst>
          </a:custGeom>
          <a:blipFill>
            <a:blip r:embed="rId9"/>
            <a:stretch>
              <a:fillRect/>
            </a:stretch>
          </a:blipFill>
        </p:spPr>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4160501" y="1432220"/>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646349" y="302895"/>
            <a:ext cx="14265732" cy="4745210"/>
          </a:xfrm>
          <a:prstGeom prst="rect">
            <a:avLst/>
          </a:prstGeom>
        </p:spPr>
        <p:txBody>
          <a:bodyPr lIns="0" tIns="0" rIns="0" bIns="0" rtlCol="0" anchor="t">
            <a:spAutoFit/>
          </a:bodyPr>
          <a:lstStyle/>
          <a:p>
            <a:pPr algn="l">
              <a:lnSpc>
                <a:spcPts val="5015"/>
              </a:lnSpc>
            </a:pPr>
            <a:r>
              <a:rPr lang="en-US" sz="4179" u="sng" spc="37" dirty="0">
                <a:solidFill>
                  <a:srgbClr val="000000"/>
                </a:solidFill>
                <a:latin typeface="TT Rounds Condensed Bold"/>
                <a:ea typeface="TT Rounds Condensed Bold"/>
                <a:cs typeface="TT Rounds Condensed Bold"/>
                <a:sym typeface="TT Rounds Condensed Bold"/>
              </a:rPr>
              <a:t>6. Getting the Values for Performance Analysis</a:t>
            </a:r>
          </a:p>
          <a:p>
            <a:pPr algn="l">
              <a:lnSpc>
                <a:spcPts val="5015"/>
              </a:lnSpc>
            </a:pPr>
            <a:endParaRPr lang="en-US" sz="4179" u="sng" spc="37" dirty="0">
              <a:solidFill>
                <a:srgbClr val="000000"/>
              </a:solidFill>
              <a:latin typeface="TT Rounds Condensed Bold"/>
              <a:ea typeface="TT Rounds Condensed Bold"/>
              <a:cs typeface="TT Rounds Condensed Bold"/>
              <a:sym typeface="TT Rounds Condensed Bold"/>
            </a:endParaRPr>
          </a:p>
          <a:p>
            <a:pPr algn="l">
              <a:lnSpc>
                <a:spcPts val="5015"/>
              </a:lnSpc>
            </a:pPr>
            <a:r>
              <a:rPr lang="en-US" sz="4179" spc="37" dirty="0">
                <a:solidFill>
                  <a:srgbClr val="000000"/>
                </a:solidFill>
                <a:latin typeface="TT Rounds Condensed"/>
                <a:ea typeface="TT Rounds Condensed"/>
                <a:cs typeface="TT Rounds Condensed"/>
                <a:sym typeface="TT Rounds Condensed"/>
              </a:rPr>
              <a:t>Performance Analysis Metrics</a:t>
            </a:r>
          </a:p>
          <a:p>
            <a:pPr algn="ctr">
              <a:lnSpc>
                <a:spcPts val="5015"/>
              </a:lnSpc>
            </a:pPr>
            <a:endParaRPr lang="en-US" sz="4179" spc="37" dirty="0">
              <a:solidFill>
                <a:srgbClr val="000000"/>
              </a:solidFill>
              <a:latin typeface="TT Rounds Condensed"/>
              <a:ea typeface="TT Rounds Condensed"/>
              <a:cs typeface="TT Rounds Condensed"/>
              <a:sym typeface="TT Rounds Condensed"/>
            </a:endParaRPr>
          </a:p>
          <a:p>
            <a:pPr algn="l">
              <a:lnSpc>
                <a:spcPts val="5015"/>
              </a:lnSpc>
            </a:pPr>
            <a:endParaRPr lang="en-US" sz="4179" spc="37" dirty="0">
              <a:solidFill>
                <a:srgbClr val="000000"/>
              </a:solidFill>
              <a:latin typeface="TT Rounds Condensed"/>
              <a:ea typeface="TT Rounds Condensed"/>
              <a:cs typeface="TT Rounds Condensed"/>
              <a:sym typeface="TT Rounds Condensed"/>
            </a:endParaRPr>
          </a:p>
          <a:p>
            <a:pPr algn="l">
              <a:lnSpc>
                <a:spcPts val="5015"/>
              </a:lnSpc>
            </a:pPr>
            <a:endParaRPr lang="en-US" sz="4179" spc="37" dirty="0">
              <a:solidFill>
                <a:srgbClr val="000000"/>
              </a:solidFill>
              <a:latin typeface="TT Rounds Condensed"/>
              <a:ea typeface="TT Rounds Condensed"/>
              <a:cs typeface="TT Rounds Condensed"/>
              <a:sym typeface="TT Rounds Condensed"/>
            </a:endParaRPr>
          </a:p>
          <a:p>
            <a:pPr marL="504292" lvl="1" indent="-252146" algn="l">
              <a:lnSpc>
                <a:spcPts val="5015"/>
              </a:lnSpc>
            </a:pPr>
            <a:endParaRPr lang="en-US" sz="4179" spc="37" dirty="0">
              <a:solidFill>
                <a:srgbClr val="000000"/>
              </a:solidFill>
              <a:latin typeface="TT Rounds Condensed"/>
              <a:ea typeface="TT Rounds Condensed"/>
              <a:cs typeface="TT Rounds Condensed"/>
              <a:sym typeface="TT Rounds Condensed"/>
            </a:endParaRPr>
          </a:p>
          <a:p>
            <a:pPr marL="206301" lvl="1" indent="-103151" algn="l">
              <a:lnSpc>
                <a:spcPts val="2051"/>
              </a:lnSpc>
            </a:pPr>
            <a:r>
              <a:rPr lang="en-US" sz="1709" spc="16" dirty="0">
                <a:solidFill>
                  <a:srgbClr val="000000"/>
                </a:solidFill>
                <a:latin typeface="TT Rounds Condensed"/>
                <a:ea typeface="TT Rounds Condensed"/>
                <a:cs typeface="TT Rounds Condensed"/>
                <a:sym typeface="TT Rounds Condensed"/>
              </a:rPr>
              <a:t> </a:t>
            </a:r>
          </a:p>
        </p:txBody>
      </p:sp>
      <p:sp>
        <p:nvSpPr>
          <p:cNvPr id="16" name="TextBox 16"/>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13</a:t>
            </a:r>
          </a:p>
        </p:txBody>
      </p:sp>
      <p:graphicFrame>
        <p:nvGraphicFramePr>
          <p:cNvPr id="20" name="Table 19">
            <a:extLst>
              <a:ext uri="{FF2B5EF4-FFF2-40B4-BE49-F238E27FC236}">
                <a16:creationId xmlns:a16="http://schemas.microsoft.com/office/drawing/2014/main" id="{F57A6758-AE62-E2C5-A1F4-E0C98401A292}"/>
              </a:ext>
            </a:extLst>
          </p:cNvPr>
          <p:cNvGraphicFramePr>
            <a:graphicFrameLocks noGrp="1"/>
          </p:cNvGraphicFramePr>
          <p:nvPr>
            <p:extLst>
              <p:ext uri="{D42A27DB-BD31-4B8C-83A1-F6EECF244321}">
                <p14:modId xmlns:p14="http://schemas.microsoft.com/office/powerpoint/2010/main" val="3939952884"/>
              </p:ext>
            </p:extLst>
          </p:nvPr>
        </p:nvGraphicFramePr>
        <p:xfrm>
          <a:off x="2011135" y="2616182"/>
          <a:ext cx="14265730" cy="6116060"/>
        </p:xfrm>
        <a:graphic>
          <a:graphicData uri="http://schemas.openxmlformats.org/drawingml/2006/table">
            <a:tbl>
              <a:tblPr firstRow="1" bandRow="1">
                <a:tableStyleId>{5C22544A-7EE6-4342-B048-85BDC9FD1C3A}</a:tableStyleId>
              </a:tblPr>
              <a:tblGrid>
                <a:gridCol w="2853146">
                  <a:extLst>
                    <a:ext uri="{9D8B030D-6E8A-4147-A177-3AD203B41FA5}">
                      <a16:colId xmlns:a16="http://schemas.microsoft.com/office/drawing/2014/main" val="3312852191"/>
                    </a:ext>
                  </a:extLst>
                </a:gridCol>
                <a:gridCol w="2853146">
                  <a:extLst>
                    <a:ext uri="{9D8B030D-6E8A-4147-A177-3AD203B41FA5}">
                      <a16:colId xmlns:a16="http://schemas.microsoft.com/office/drawing/2014/main" val="994982352"/>
                    </a:ext>
                  </a:extLst>
                </a:gridCol>
                <a:gridCol w="2853146">
                  <a:extLst>
                    <a:ext uri="{9D8B030D-6E8A-4147-A177-3AD203B41FA5}">
                      <a16:colId xmlns:a16="http://schemas.microsoft.com/office/drawing/2014/main" val="77968014"/>
                    </a:ext>
                  </a:extLst>
                </a:gridCol>
                <a:gridCol w="2853146">
                  <a:extLst>
                    <a:ext uri="{9D8B030D-6E8A-4147-A177-3AD203B41FA5}">
                      <a16:colId xmlns:a16="http://schemas.microsoft.com/office/drawing/2014/main" val="2611708430"/>
                    </a:ext>
                  </a:extLst>
                </a:gridCol>
                <a:gridCol w="2853146">
                  <a:extLst>
                    <a:ext uri="{9D8B030D-6E8A-4147-A177-3AD203B41FA5}">
                      <a16:colId xmlns:a16="http://schemas.microsoft.com/office/drawing/2014/main" val="2437110983"/>
                    </a:ext>
                  </a:extLst>
                </a:gridCol>
              </a:tblGrid>
              <a:tr h="885125">
                <a:tc>
                  <a:txBody>
                    <a:bodyPr/>
                    <a:lstStyle/>
                    <a:p>
                      <a:pPr algn="ctr" fontAlgn="ctr"/>
                      <a:r>
                        <a:rPr lang="en-GB" sz="2800" b="1" i="0" u="none" strike="noStrike" dirty="0">
                          <a:solidFill>
                            <a:srgbClr val="000000"/>
                          </a:solidFill>
                          <a:effectLst/>
                          <a:latin typeface="Times New Roman" panose="02020603050405020304" pitchFamily="18" charset="0"/>
                        </a:rPr>
                        <a:t>Metric</a:t>
                      </a:r>
                    </a:p>
                  </a:txBody>
                  <a:tcPr marL="7620" marR="7620" marT="7620" marB="0" anchor="ctr"/>
                </a:tc>
                <a:tc>
                  <a:txBody>
                    <a:bodyPr/>
                    <a:lstStyle/>
                    <a:p>
                      <a:pPr algn="ctr" fontAlgn="ctr"/>
                      <a:r>
                        <a:rPr lang="en-GB" sz="2800" b="1" i="0" u="none" strike="noStrike">
                          <a:solidFill>
                            <a:srgbClr val="000000"/>
                          </a:solidFill>
                          <a:effectLst/>
                          <a:latin typeface="Times New Roman" panose="02020603050405020304" pitchFamily="18" charset="0"/>
                        </a:rPr>
                        <a:t>Description</a:t>
                      </a:r>
                    </a:p>
                  </a:txBody>
                  <a:tcPr marL="7620" marR="7620" marT="7620" marB="0" anchor="ctr"/>
                </a:tc>
                <a:tc>
                  <a:txBody>
                    <a:bodyPr/>
                    <a:lstStyle/>
                    <a:p>
                      <a:pPr algn="ctr" fontAlgn="ctr"/>
                      <a:r>
                        <a:rPr lang="en-GB" sz="2800" b="1" i="0" u="none" strike="noStrike">
                          <a:solidFill>
                            <a:srgbClr val="000000"/>
                          </a:solidFill>
                          <a:effectLst/>
                          <a:latin typeface="Times New Roman" panose="02020603050405020304" pitchFamily="18" charset="0"/>
                        </a:rPr>
                        <a:t>Speed Limit Detection &amp; Assist</a:t>
                      </a:r>
                    </a:p>
                  </a:txBody>
                  <a:tcPr marL="7620" marR="7620" marT="7620" marB="0" anchor="ctr"/>
                </a:tc>
                <a:tc>
                  <a:txBody>
                    <a:bodyPr/>
                    <a:lstStyle/>
                    <a:p>
                      <a:pPr algn="ctr" fontAlgn="ctr"/>
                      <a:r>
                        <a:rPr lang="en-GB" sz="2800" b="1" i="0" u="none" strike="noStrike">
                          <a:solidFill>
                            <a:srgbClr val="000000"/>
                          </a:solidFill>
                          <a:effectLst/>
                          <a:latin typeface="Times New Roman" panose="02020603050405020304" pitchFamily="18" charset="0"/>
                        </a:rPr>
                        <a:t>Forward Collision Warning</a:t>
                      </a:r>
                    </a:p>
                  </a:txBody>
                  <a:tcPr marL="7620" marR="7620" marT="7620" marB="0" anchor="ctr"/>
                </a:tc>
                <a:tc>
                  <a:txBody>
                    <a:bodyPr/>
                    <a:lstStyle/>
                    <a:p>
                      <a:pPr algn="ctr" fontAlgn="ctr"/>
                      <a:r>
                        <a:rPr lang="en-GB" sz="2800" b="1" i="0" u="none" strike="noStrike">
                          <a:solidFill>
                            <a:srgbClr val="000000"/>
                          </a:solidFill>
                          <a:effectLst/>
                          <a:latin typeface="Times New Roman" panose="02020603050405020304" pitchFamily="18" charset="0"/>
                        </a:rPr>
                        <a:t>Headlight Control</a:t>
                      </a:r>
                    </a:p>
                  </a:txBody>
                  <a:tcPr marL="7620" marR="7620" marT="7620" marB="0" anchor="ctr"/>
                </a:tc>
                <a:extLst>
                  <a:ext uri="{0D108BD9-81ED-4DB2-BD59-A6C34878D82A}">
                    <a16:rowId xmlns:a16="http://schemas.microsoft.com/office/drawing/2014/main" val="78934663"/>
                  </a:ext>
                </a:extLst>
              </a:tr>
              <a:tr h="885125">
                <a:tc>
                  <a:txBody>
                    <a:bodyPr/>
                    <a:lstStyle/>
                    <a:p>
                      <a:pPr algn="ctr" fontAlgn="ctr"/>
                      <a:r>
                        <a:rPr lang="en-GB" sz="2800" b="0" i="0" u="none" strike="noStrike" dirty="0">
                          <a:solidFill>
                            <a:srgbClr val="000000"/>
                          </a:solidFill>
                          <a:effectLst/>
                          <a:latin typeface="Times New Roman" panose="02020603050405020304" pitchFamily="18" charset="0"/>
                        </a:rPr>
                        <a:t>Accuracy</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Proportion of correct predictions</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&gt;= 95%</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&gt;= 90%</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&gt;= 95%</a:t>
                      </a:r>
                    </a:p>
                  </a:txBody>
                  <a:tcPr marL="7620" marR="7620" marT="7620" marB="0" anchor="ctr"/>
                </a:tc>
                <a:extLst>
                  <a:ext uri="{0D108BD9-81ED-4DB2-BD59-A6C34878D82A}">
                    <a16:rowId xmlns:a16="http://schemas.microsoft.com/office/drawing/2014/main" val="1013031068"/>
                  </a:ext>
                </a:extLst>
              </a:tr>
              <a:tr h="885125">
                <a:tc>
                  <a:txBody>
                    <a:bodyPr/>
                    <a:lstStyle/>
                    <a:p>
                      <a:pPr algn="ctr" fontAlgn="ctr"/>
                      <a:r>
                        <a:rPr lang="en-GB" sz="2800" b="0" i="0" u="none" strike="noStrike">
                          <a:solidFill>
                            <a:srgbClr val="000000"/>
                          </a:solidFill>
                          <a:effectLst/>
                          <a:latin typeface="Times New Roman" panose="02020603050405020304" pitchFamily="18" charset="0"/>
                        </a:rPr>
                        <a:t>Precision</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Ratio of true positives to all positive predictions</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&gt;= 90%</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&gt;= 90%</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a:t>
                      </a:r>
                    </a:p>
                  </a:txBody>
                  <a:tcPr marL="7620" marR="7620" marT="7620" marB="0" anchor="ctr"/>
                </a:tc>
                <a:extLst>
                  <a:ext uri="{0D108BD9-81ED-4DB2-BD59-A6C34878D82A}">
                    <a16:rowId xmlns:a16="http://schemas.microsoft.com/office/drawing/2014/main" val="3571914161"/>
                  </a:ext>
                </a:extLst>
              </a:tr>
              <a:tr h="885125">
                <a:tc>
                  <a:txBody>
                    <a:bodyPr/>
                    <a:lstStyle/>
                    <a:p>
                      <a:pPr algn="ctr" fontAlgn="ctr"/>
                      <a:r>
                        <a:rPr lang="en-GB" sz="2800" b="0" i="0" u="none" strike="noStrike">
                          <a:solidFill>
                            <a:srgbClr val="000000"/>
                          </a:solidFill>
                          <a:effectLst/>
                          <a:latin typeface="Times New Roman" panose="02020603050405020304" pitchFamily="18" charset="0"/>
                        </a:rPr>
                        <a:t>Recall</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Ratio of true positives to all actual positives</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&gt;= 90%</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&gt;= 90%</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a:t>
                      </a:r>
                    </a:p>
                  </a:txBody>
                  <a:tcPr marL="7620" marR="7620" marT="7620" marB="0" anchor="ctr"/>
                </a:tc>
                <a:extLst>
                  <a:ext uri="{0D108BD9-81ED-4DB2-BD59-A6C34878D82A}">
                    <a16:rowId xmlns:a16="http://schemas.microsoft.com/office/drawing/2014/main" val="4015677070"/>
                  </a:ext>
                </a:extLst>
              </a:tr>
              <a:tr h="885125">
                <a:tc>
                  <a:txBody>
                    <a:bodyPr/>
                    <a:lstStyle/>
                    <a:p>
                      <a:pPr algn="ctr" fontAlgn="ctr"/>
                      <a:r>
                        <a:rPr lang="en-GB" sz="2800" b="0" i="0" u="none" strike="noStrike">
                          <a:solidFill>
                            <a:srgbClr val="000000"/>
                          </a:solidFill>
                          <a:effectLst/>
                          <a:latin typeface="Times New Roman" panose="02020603050405020304" pitchFamily="18" charset="0"/>
                        </a:rPr>
                        <a:t>False Positive Rate (FPR)</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Rate of incorrect predictions</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&lt;= 5%</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&lt;= 10%</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a:t>
                      </a:r>
                    </a:p>
                  </a:txBody>
                  <a:tcPr marL="7620" marR="7620" marT="7620" marB="0" anchor="ctr"/>
                </a:tc>
                <a:extLst>
                  <a:ext uri="{0D108BD9-81ED-4DB2-BD59-A6C34878D82A}">
                    <a16:rowId xmlns:a16="http://schemas.microsoft.com/office/drawing/2014/main" val="1256036025"/>
                  </a:ext>
                </a:extLst>
              </a:tr>
              <a:tr h="885125">
                <a:tc>
                  <a:txBody>
                    <a:bodyPr/>
                    <a:lstStyle/>
                    <a:p>
                      <a:pPr algn="ctr" fontAlgn="ctr"/>
                      <a:r>
                        <a:rPr lang="en-GB" sz="2800" b="0" i="0" u="none" strike="noStrike">
                          <a:solidFill>
                            <a:srgbClr val="000000"/>
                          </a:solidFill>
                          <a:effectLst/>
                          <a:latin typeface="Times New Roman" panose="02020603050405020304" pitchFamily="18" charset="0"/>
                        </a:rPr>
                        <a:t>Warning Latency</a:t>
                      </a:r>
                    </a:p>
                  </a:txBody>
                  <a:tcPr marL="7620" marR="7620" marT="7620" marB="0" anchor="ctr"/>
                </a:tc>
                <a:tc>
                  <a:txBody>
                    <a:bodyPr/>
                    <a:lstStyle/>
                    <a:p>
                      <a:pPr algn="ctr" fontAlgn="ctr"/>
                      <a:r>
                        <a:rPr lang="en-GB" sz="2800" b="0" i="0" u="none" strike="noStrike">
                          <a:solidFill>
                            <a:srgbClr val="000000"/>
                          </a:solidFill>
                          <a:effectLst/>
                          <a:latin typeface="Times New Roman" panose="02020603050405020304" pitchFamily="18" charset="0"/>
                        </a:rPr>
                        <a:t>Time from detection to alert</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&lt;=0.5 seconds</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&lt;= 0.2 seconds</a:t>
                      </a:r>
                    </a:p>
                  </a:txBody>
                  <a:tcPr marL="7620" marR="7620" marT="7620" marB="0" anchor="ctr"/>
                </a:tc>
                <a:tc>
                  <a:txBody>
                    <a:bodyPr/>
                    <a:lstStyle/>
                    <a:p>
                      <a:pPr algn="ctr" fontAlgn="ctr"/>
                      <a:r>
                        <a:rPr lang="en-GB" sz="2800" b="0" i="0" u="none" strike="noStrike" dirty="0">
                          <a:solidFill>
                            <a:srgbClr val="000000"/>
                          </a:solidFill>
                          <a:effectLst/>
                          <a:latin typeface="Times New Roman" panose="02020603050405020304" pitchFamily="18" charset="0"/>
                        </a:rPr>
                        <a:t>&lt;= 0.3 seconds</a:t>
                      </a:r>
                    </a:p>
                  </a:txBody>
                  <a:tcPr marL="7620" marR="7620" marT="7620" marB="0" anchor="ctr"/>
                </a:tc>
                <a:extLst>
                  <a:ext uri="{0D108BD9-81ED-4DB2-BD59-A6C34878D82A}">
                    <a16:rowId xmlns:a16="http://schemas.microsoft.com/office/drawing/2014/main" val="4207541527"/>
                  </a:ext>
                </a:extLst>
              </a:tr>
            </a:tbl>
          </a:graphicData>
        </a:graphic>
      </p:graphicFrame>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a:off x="-44709" y="8871197"/>
            <a:ext cx="14956790" cy="635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15324661" y="-778782"/>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4160501" y="1432220"/>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5915712" y="800120"/>
            <a:ext cx="4658180" cy="724609"/>
          </a:xfrm>
          <a:custGeom>
            <a:avLst/>
            <a:gdLst/>
            <a:ahLst/>
            <a:cxnLst/>
            <a:rect l="l" t="t" r="r" b="b"/>
            <a:pathLst>
              <a:path w="4658180" h="724609">
                <a:moveTo>
                  <a:pt x="0" y="0"/>
                </a:moveTo>
                <a:lnTo>
                  <a:pt x="4658180" y="0"/>
                </a:lnTo>
                <a:lnTo>
                  <a:pt x="4658180" y="724609"/>
                </a:lnTo>
                <a:lnTo>
                  <a:pt x="0" y="7246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646349" y="302895"/>
            <a:ext cx="14265732" cy="8592417"/>
          </a:xfrm>
          <a:prstGeom prst="rect">
            <a:avLst/>
          </a:prstGeom>
        </p:spPr>
        <p:txBody>
          <a:bodyPr lIns="0" tIns="0" rIns="0" bIns="0" rtlCol="0" anchor="t">
            <a:spAutoFit/>
          </a:bodyPr>
          <a:lstStyle/>
          <a:p>
            <a:pPr algn="l">
              <a:lnSpc>
                <a:spcPts val="5015"/>
              </a:lnSpc>
            </a:pPr>
            <a:r>
              <a:rPr lang="en-US" sz="4179" u="sng" spc="37" dirty="0">
                <a:solidFill>
                  <a:srgbClr val="000000"/>
                </a:solidFill>
                <a:latin typeface="TT Rounds Condensed Bold"/>
                <a:ea typeface="TT Rounds Condensed Bold"/>
                <a:cs typeface="TT Rounds Condensed Bold"/>
                <a:sym typeface="TT Rounds Condensed Bold"/>
              </a:rPr>
              <a:t>6. Getting the Values for Performance Analysis</a:t>
            </a:r>
          </a:p>
          <a:p>
            <a:pPr algn="l">
              <a:lnSpc>
                <a:spcPts val="5015"/>
              </a:lnSpc>
            </a:pPr>
            <a:endParaRPr lang="en-US" sz="4179" u="sng" spc="37" dirty="0">
              <a:solidFill>
                <a:srgbClr val="000000"/>
              </a:solidFill>
              <a:latin typeface="TT Rounds Condensed Bold"/>
              <a:ea typeface="TT Rounds Condensed Bold"/>
              <a:cs typeface="TT Rounds Condensed Bold"/>
              <a:sym typeface="TT Rounds Condensed Bold"/>
            </a:endParaRPr>
          </a:p>
          <a:p>
            <a:pPr algn="l">
              <a:lnSpc>
                <a:spcPts val="5015"/>
              </a:lnSpc>
            </a:pPr>
            <a:r>
              <a:rPr lang="en-US" sz="4179" b="1" spc="37" dirty="0">
                <a:solidFill>
                  <a:srgbClr val="000000"/>
                </a:solidFill>
                <a:latin typeface="TT Rounds Condensed"/>
                <a:ea typeface="TT Rounds Condensed"/>
                <a:cs typeface="TT Rounds Condensed"/>
                <a:sym typeface="TT Rounds Condensed"/>
              </a:rPr>
              <a:t>Latency</a:t>
            </a:r>
          </a:p>
          <a:p>
            <a:pPr algn="l">
              <a:lnSpc>
                <a:spcPts val="5015"/>
              </a:lnSpc>
            </a:pPr>
            <a:r>
              <a:rPr lang="en-US" sz="4179" spc="37" dirty="0">
                <a:solidFill>
                  <a:srgbClr val="000000"/>
                </a:solidFill>
                <a:latin typeface="TT Rounds Condensed"/>
                <a:ea typeface="TT Rounds Condensed"/>
                <a:cs typeface="TT Rounds Condensed"/>
                <a:sym typeface="TT Rounds Condensed"/>
              </a:rPr>
              <a:t>latency = frame rate * latency per frame</a:t>
            </a:r>
          </a:p>
          <a:p>
            <a:pPr algn="l">
              <a:lnSpc>
                <a:spcPts val="5015"/>
              </a:lnSpc>
            </a:pPr>
            <a:endParaRPr lang="en-US" sz="4179" spc="37" dirty="0">
              <a:solidFill>
                <a:srgbClr val="000000"/>
              </a:solidFill>
              <a:latin typeface="TT Rounds Condensed"/>
              <a:ea typeface="TT Rounds Condensed"/>
              <a:cs typeface="TT Rounds Condensed"/>
              <a:sym typeface="TT Rounds Condensed"/>
            </a:endParaRPr>
          </a:p>
          <a:p>
            <a:pPr algn="l">
              <a:lnSpc>
                <a:spcPts val="5015"/>
              </a:lnSpc>
            </a:pPr>
            <a:r>
              <a:rPr lang="en-US" sz="4179" spc="37" dirty="0">
                <a:solidFill>
                  <a:srgbClr val="000000"/>
                </a:solidFill>
                <a:latin typeface="TT Rounds Condensed"/>
                <a:ea typeface="TT Rounds Condensed"/>
                <a:cs typeface="TT Rounds Condensed"/>
                <a:sym typeface="TT Rounds Condensed"/>
              </a:rPr>
              <a:t>frame rate=30fps</a:t>
            </a:r>
          </a:p>
          <a:p>
            <a:pPr algn="l">
              <a:lnSpc>
                <a:spcPts val="5015"/>
              </a:lnSpc>
            </a:pPr>
            <a:r>
              <a:rPr lang="en-US" sz="4179" spc="37" dirty="0">
                <a:solidFill>
                  <a:srgbClr val="000000"/>
                </a:solidFill>
                <a:latin typeface="TT Rounds Condensed"/>
                <a:ea typeface="TT Rounds Condensed"/>
                <a:cs typeface="TT Rounds Condensed"/>
                <a:sym typeface="TT Rounds Condensed"/>
              </a:rPr>
              <a:t>latency per frame =0.1537s</a:t>
            </a:r>
          </a:p>
          <a:p>
            <a:pPr algn="l">
              <a:lnSpc>
                <a:spcPts val="5015"/>
              </a:lnSpc>
            </a:pPr>
            <a:r>
              <a:rPr lang="en-US" sz="4179" spc="37" dirty="0">
                <a:solidFill>
                  <a:srgbClr val="000000"/>
                </a:solidFill>
                <a:latin typeface="TT Rounds Condensed"/>
                <a:ea typeface="TT Rounds Condensed"/>
                <a:cs typeface="TT Rounds Condensed"/>
                <a:sym typeface="TT Rounds Condensed"/>
              </a:rPr>
              <a:t>latency per frame =0.1528s</a:t>
            </a:r>
          </a:p>
          <a:p>
            <a:pPr algn="l">
              <a:lnSpc>
                <a:spcPts val="5015"/>
              </a:lnSpc>
            </a:pPr>
            <a:r>
              <a:rPr lang="en-US" sz="4179" spc="37" dirty="0">
                <a:solidFill>
                  <a:srgbClr val="000000"/>
                </a:solidFill>
                <a:latin typeface="TT Rounds Condensed"/>
                <a:ea typeface="TT Rounds Condensed"/>
                <a:cs typeface="TT Rounds Condensed"/>
                <a:sym typeface="TT Rounds Condensed"/>
              </a:rPr>
              <a:t>latency per frame =0.1536s</a:t>
            </a:r>
          </a:p>
          <a:p>
            <a:pPr algn="l">
              <a:lnSpc>
                <a:spcPts val="5015"/>
              </a:lnSpc>
            </a:pPr>
            <a:r>
              <a:rPr lang="en-US" sz="4179" spc="37" dirty="0">
                <a:solidFill>
                  <a:srgbClr val="000000"/>
                </a:solidFill>
                <a:latin typeface="TT Rounds Condensed"/>
                <a:ea typeface="TT Rounds Condensed"/>
                <a:cs typeface="TT Rounds Condensed"/>
                <a:sym typeface="TT Rounds Condensed"/>
              </a:rPr>
              <a:t>latency per frame=0.1520s</a:t>
            </a:r>
          </a:p>
          <a:p>
            <a:pPr algn="l">
              <a:lnSpc>
                <a:spcPts val="5015"/>
              </a:lnSpc>
            </a:pPr>
            <a:endParaRPr lang="en-US" sz="4179" spc="37" dirty="0">
              <a:solidFill>
                <a:srgbClr val="000000"/>
              </a:solidFill>
              <a:latin typeface="TT Rounds Condensed"/>
              <a:ea typeface="TT Rounds Condensed"/>
              <a:cs typeface="TT Rounds Condensed"/>
              <a:sym typeface="TT Rounds Condensed"/>
            </a:endParaRPr>
          </a:p>
          <a:p>
            <a:pPr algn="l">
              <a:lnSpc>
                <a:spcPts val="5015"/>
              </a:lnSpc>
            </a:pPr>
            <a:endParaRPr lang="en-US" sz="4179" spc="37" dirty="0">
              <a:solidFill>
                <a:srgbClr val="000000"/>
              </a:solidFill>
              <a:latin typeface="TT Rounds Condensed"/>
              <a:ea typeface="TT Rounds Condensed"/>
              <a:cs typeface="TT Rounds Condensed"/>
              <a:sym typeface="TT Rounds Condensed"/>
            </a:endParaRPr>
          </a:p>
          <a:p>
            <a:pPr marL="504292" lvl="1" indent="-252146" algn="l">
              <a:lnSpc>
                <a:spcPts val="5015"/>
              </a:lnSpc>
            </a:pPr>
            <a:endParaRPr lang="en-US" sz="4179" spc="37" dirty="0">
              <a:solidFill>
                <a:srgbClr val="000000"/>
              </a:solidFill>
              <a:latin typeface="TT Rounds Condensed"/>
              <a:ea typeface="TT Rounds Condensed"/>
              <a:cs typeface="TT Rounds Condensed"/>
              <a:sym typeface="TT Rounds Condensed"/>
            </a:endParaRPr>
          </a:p>
          <a:p>
            <a:pPr marL="206301" lvl="1" indent="-103151" algn="l">
              <a:lnSpc>
                <a:spcPts val="2051"/>
              </a:lnSpc>
            </a:pPr>
            <a:r>
              <a:rPr lang="en-US" sz="1709" spc="16" dirty="0">
                <a:solidFill>
                  <a:srgbClr val="000000"/>
                </a:solidFill>
                <a:latin typeface="TT Rounds Condensed"/>
                <a:ea typeface="TT Rounds Condensed"/>
                <a:cs typeface="TT Rounds Condensed"/>
                <a:sym typeface="TT Rounds Condensed"/>
              </a:rPr>
              <a:t> </a:t>
            </a:r>
          </a:p>
        </p:txBody>
      </p:sp>
      <p:sp>
        <p:nvSpPr>
          <p:cNvPr id="16" name="TextBox 16"/>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13</a:t>
            </a:r>
          </a:p>
        </p:txBody>
      </p:sp>
      <p:pic>
        <p:nvPicPr>
          <p:cNvPr id="18" name="Picture 17">
            <a:extLst>
              <a:ext uri="{FF2B5EF4-FFF2-40B4-BE49-F238E27FC236}">
                <a16:creationId xmlns:a16="http://schemas.microsoft.com/office/drawing/2014/main" id="{696A9FF0-968F-C1E1-76FC-9D3D4011CB6C}"/>
              </a:ext>
            </a:extLst>
          </p:cNvPr>
          <p:cNvPicPr>
            <a:picLocks noChangeAspect="1"/>
          </p:cNvPicPr>
          <p:nvPr/>
        </p:nvPicPr>
        <p:blipFill>
          <a:blip r:embed="rId9">
            <a:biLevel thresh="75000"/>
            <a:extLst>
              <a:ext uri="{28A0092B-C50C-407E-A947-70E740481C1C}">
                <a14:useLocalDpi xmlns:a14="http://schemas.microsoft.com/office/drawing/2010/main" val="0"/>
              </a:ext>
            </a:extLst>
          </a:blip>
          <a:stretch>
            <a:fillRect/>
          </a:stretch>
        </p:blipFill>
        <p:spPr>
          <a:xfrm>
            <a:off x="8839200" y="3160784"/>
            <a:ext cx="8534400" cy="5104251"/>
          </a:xfrm>
          <a:prstGeom prst="rect">
            <a:avLst/>
          </a:prstGeom>
        </p:spPr>
      </p:pic>
      <p:sp>
        <p:nvSpPr>
          <p:cNvPr id="19" name="TextBox 18">
            <a:extLst>
              <a:ext uri="{FF2B5EF4-FFF2-40B4-BE49-F238E27FC236}">
                <a16:creationId xmlns:a16="http://schemas.microsoft.com/office/drawing/2014/main" id="{E9C33993-F121-76A9-1564-A6610B12AF10}"/>
              </a:ext>
            </a:extLst>
          </p:cNvPr>
          <p:cNvSpPr txBox="1"/>
          <p:nvPr/>
        </p:nvSpPr>
        <p:spPr>
          <a:xfrm>
            <a:off x="13817601" y="5107731"/>
            <a:ext cx="685800" cy="369332"/>
          </a:xfrm>
          <a:prstGeom prst="rect">
            <a:avLst/>
          </a:prstGeom>
          <a:noFill/>
        </p:spPr>
        <p:txBody>
          <a:bodyPr wrap="square" rtlCol="0">
            <a:spAutoFit/>
          </a:bodyPr>
          <a:lstStyle/>
          <a:p>
            <a:r>
              <a:rPr lang="en-GB" dirty="0">
                <a:solidFill>
                  <a:schemeClr val="bg1"/>
                </a:solidFill>
              </a:rPr>
              <a:t>4096</a:t>
            </a:r>
          </a:p>
        </p:txBody>
      </p:sp>
      <p:sp>
        <p:nvSpPr>
          <p:cNvPr id="20" name="TextBox 19">
            <a:extLst>
              <a:ext uri="{FF2B5EF4-FFF2-40B4-BE49-F238E27FC236}">
                <a16:creationId xmlns:a16="http://schemas.microsoft.com/office/drawing/2014/main" id="{C8FB4BF9-0800-080C-2BD7-8DF1C394E3B8}"/>
              </a:ext>
            </a:extLst>
          </p:cNvPr>
          <p:cNvSpPr txBox="1"/>
          <p:nvPr/>
        </p:nvSpPr>
        <p:spPr>
          <a:xfrm>
            <a:off x="13335000" y="6591300"/>
            <a:ext cx="652743" cy="369332"/>
          </a:xfrm>
          <a:prstGeom prst="rect">
            <a:avLst/>
          </a:prstGeom>
          <a:noFill/>
        </p:spPr>
        <p:txBody>
          <a:bodyPr wrap="none" rtlCol="0">
            <a:spAutoFit/>
          </a:bodyPr>
          <a:lstStyle/>
          <a:p>
            <a:r>
              <a:rPr lang="en-GB" dirty="0">
                <a:solidFill>
                  <a:schemeClr val="bg1"/>
                </a:solidFill>
              </a:rPr>
              <a:t>2570</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grpSp>
        <p:nvGrpSpPr>
          <p:cNvPr id="6" name="Group 6"/>
          <p:cNvGrpSpPr/>
          <p:nvPr/>
        </p:nvGrpSpPr>
        <p:grpSpPr>
          <a:xfrm>
            <a:off x="4763" y="9601200"/>
            <a:ext cx="18283238" cy="685800"/>
            <a:chOff x="0" y="0"/>
            <a:chExt cx="24377651" cy="914400"/>
          </a:xfrm>
        </p:grpSpPr>
        <p:sp>
          <p:nvSpPr>
            <p:cNvPr id="7" name="Freeform 7"/>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8" name="Group 8"/>
          <p:cNvGrpSpPr/>
          <p:nvPr/>
        </p:nvGrpSpPr>
        <p:grpSpPr>
          <a:xfrm>
            <a:off x="23" y="9501474"/>
            <a:ext cx="18283238" cy="96012"/>
            <a:chOff x="0" y="0"/>
            <a:chExt cx="24377651" cy="128016"/>
          </a:xfrm>
        </p:grpSpPr>
        <p:sp>
          <p:nvSpPr>
            <p:cNvPr id="9" name="Freeform 9"/>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0" name="TextBox 10"/>
          <p:cNvSpPr txBox="1"/>
          <p:nvPr/>
        </p:nvSpPr>
        <p:spPr>
          <a:xfrm>
            <a:off x="5625635" y="-9525"/>
            <a:ext cx="6503097" cy="914400"/>
          </a:xfrm>
          <a:prstGeom prst="rect">
            <a:avLst/>
          </a:prstGeom>
        </p:spPr>
        <p:txBody>
          <a:bodyPr lIns="0" tIns="0" rIns="0" bIns="0" rtlCol="0" anchor="t">
            <a:spAutoFit/>
          </a:bodyPr>
          <a:lstStyle/>
          <a:p>
            <a:pPr algn="ctr">
              <a:lnSpc>
                <a:spcPts val="7199"/>
              </a:lnSpc>
            </a:pPr>
            <a:r>
              <a:rPr lang="en-US" sz="5999" spc="56">
                <a:solidFill>
                  <a:srgbClr val="FF0000"/>
                </a:solidFill>
                <a:latin typeface="TT Rounds Condensed Bold"/>
                <a:ea typeface="TT Rounds Condensed Bold"/>
                <a:cs typeface="TT Rounds Condensed Bold"/>
                <a:sym typeface="TT Rounds Condensed Bold"/>
              </a:rPr>
              <a:t>BUSINESS CANVAS</a:t>
            </a:r>
          </a:p>
        </p:txBody>
      </p:sp>
      <p:sp>
        <p:nvSpPr>
          <p:cNvPr id="11" name="TextBox 11"/>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15</a:t>
            </a:r>
          </a:p>
        </p:txBody>
      </p:sp>
      <p:grpSp>
        <p:nvGrpSpPr>
          <p:cNvPr id="12" name="Group 12"/>
          <p:cNvGrpSpPr/>
          <p:nvPr/>
        </p:nvGrpSpPr>
        <p:grpSpPr>
          <a:xfrm>
            <a:off x="73596" y="923113"/>
            <a:ext cx="3642009" cy="5937619"/>
            <a:chOff x="0" y="0"/>
            <a:chExt cx="4446318" cy="7248896"/>
          </a:xfrm>
        </p:grpSpPr>
        <p:sp>
          <p:nvSpPr>
            <p:cNvPr id="13" name="Freeform 13"/>
            <p:cNvSpPr/>
            <p:nvPr/>
          </p:nvSpPr>
          <p:spPr>
            <a:xfrm>
              <a:off x="38100" y="38100"/>
              <a:ext cx="4370070" cy="7172706"/>
            </a:xfrm>
            <a:custGeom>
              <a:avLst/>
              <a:gdLst/>
              <a:ahLst/>
              <a:cxnLst/>
              <a:rect l="l" t="t" r="r" b="b"/>
              <a:pathLst>
                <a:path w="4370070" h="7172706">
                  <a:moveTo>
                    <a:pt x="0" y="0"/>
                  </a:moveTo>
                  <a:lnTo>
                    <a:pt x="4370070" y="0"/>
                  </a:lnTo>
                  <a:lnTo>
                    <a:pt x="4370070" y="7172706"/>
                  </a:lnTo>
                  <a:lnTo>
                    <a:pt x="0" y="7172706"/>
                  </a:lnTo>
                  <a:close/>
                </a:path>
              </a:pathLst>
            </a:custGeom>
            <a:solidFill>
              <a:srgbClr val="84EEF2">
                <a:alpha val="97647"/>
              </a:srgbClr>
            </a:solidFill>
          </p:spPr>
        </p:sp>
        <p:sp>
          <p:nvSpPr>
            <p:cNvPr id="14" name="Freeform 14"/>
            <p:cNvSpPr/>
            <p:nvPr/>
          </p:nvSpPr>
          <p:spPr>
            <a:xfrm>
              <a:off x="0" y="0"/>
              <a:ext cx="4446270" cy="7248906"/>
            </a:xfrm>
            <a:custGeom>
              <a:avLst/>
              <a:gdLst/>
              <a:ahLst/>
              <a:cxnLst/>
              <a:rect l="l" t="t" r="r" b="b"/>
              <a:pathLst>
                <a:path w="4446270" h="7248906">
                  <a:moveTo>
                    <a:pt x="38100" y="0"/>
                  </a:moveTo>
                  <a:lnTo>
                    <a:pt x="4408170" y="0"/>
                  </a:lnTo>
                  <a:cubicBezTo>
                    <a:pt x="4429252" y="0"/>
                    <a:pt x="4446270" y="17018"/>
                    <a:pt x="4446270" y="38100"/>
                  </a:cubicBezTo>
                  <a:lnTo>
                    <a:pt x="4446270" y="7210806"/>
                  </a:lnTo>
                  <a:cubicBezTo>
                    <a:pt x="4446270" y="7231888"/>
                    <a:pt x="4429252" y="7248906"/>
                    <a:pt x="4408170" y="7248906"/>
                  </a:cubicBezTo>
                  <a:lnTo>
                    <a:pt x="38100" y="7248906"/>
                  </a:lnTo>
                  <a:cubicBezTo>
                    <a:pt x="17018" y="7248906"/>
                    <a:pt x="0" y="7231888"/>
                    <a:pt x="0" y="7210806"/>
                  </a:cubicBezTo>
                  <a:lnTo>
                    <a:pt x="0" y="38100"/>
                  </a:lnTo>
                  <a:cubicBezTo>
                    <a:pt x="0" y="17018"/>
                    <a:pt x="17018" y="0"/>
                    <a:pt x="38100" y="0"/>
                  </a:cubicBezTo>
                  <a:moveTo>
                    <a:pt x="38100" y="76200"/>
                  </a:moveTo>
                  <a:lnTo>
                    <a:pt x="38100" y="38100"/>
                  </a:lnTo>
                  <a:lnTo>
                    <a:pt x="76200" y="38100"/>
                  </a:lnTo>
                  <a:lnTo>
                    <a:pt x="76200" y="7210806"/>
                  </a:lnTo>
                  <a:lnTo>
                    <a:pt x="38100" y="7210806"/>
                  </a:lnTo>
                  <a:lnTo>
                    <a:pt x="38100" y="7172706"/>
                  </a:lnTo>
                  <a:lnTo>
                    <a:pt x="4408170" y="7172706"/>
                  </a:lnTo>
                  <a:lnTo>
                    <a:pt x="4408170" y="7210806"/>
                  </a:lnTo>
                  <a:lnTo>
                    <a:pt x="4370070" y="7210806"/>
                  </a:lnTo>
                  <a:lnTo>
                    <a:pt x="4370070" y="38100"/>
                  </a:lnTo>
                  <a:lnTo>
                    <a:pt x="4408170" y="38100"/>
                  </a:lnTo>
                  <a:lnTo>
                    <a:pt x="4408170" y="76200"/>
                  </a:lnTo>
                  <a:lnTo>
                    <a:pt x="38100" y="76200"/>
                  </a:lnTo>
                  <a:close/>
                </a:path>
              </a:pathLst>
            </a:custGeom>
            <a:solidFill>
              <a:srgbClr val="015E61">
                <a:alpha val="97647"/>
              </a:srgbClr>
            </a:solidFill>
          </p:spPr>
        </p:sp>
      </p:grpSp>
      <p:grpSp>
        <p:nvGrpSpPr>
          <p:cNvPr id="15" name="Group 15"/>
          <p:cNvGrpSpPr/>
          <p:nvPr/>
        </p:nvGrpSpPr>
        <p:grpSpPr>
          <a:xfrm>
            <a:off x="7302971" y="927165"/>
            <a:ext cx="3642009" cy="5937619"/>
            <a:chOff x="0" y="0"/>
            <a:chExt cx="4446318" cy="7248896"/>
          </a:xfrm>
        </p:grpSpPr>
        <p:sp>
          <p:nvSpPr>
            <p:cNvPr id="16" name="Freeform 16"/>
            <p:cNvSpPr/>
            <p:nvPr/>
          </p:nvSpPr>
          <p:spPr>
            <a:xfrm>
              <a:off x="38100" y="38100"/>
              <a:ext cx="4370070" cy="7172706"/>
            </a:xfrm>
            <a:custGeom>
              <a:avLst/>
              <a:gdLst/>
              <a:ahLst/>
              <a:cxnLst/>
              <a:rect l="l" t="t" r="r" b="b"/>
              <a:pathLst>
                <a:path w="4370070" h="7172706">
                  <a:moveTo>
                    <a:pt x="0" y="0"/>
                  </a:moveTo>
                  <a:lnTo>
                    <a:pt x="4370070" y="0"/>
                  </a:lnTo>
                  <a:lnTo>
                    <a:pt x="4370070" y="7172706"/>
                  </a:lnTo>
                  <a:lnTo>
                    <a:pt x="0" y="7172706"/>
                  </a:lnTo>
                  <a:close/>
                </a:path>
              </a:pathLst>
            </a:custGeom>
            <a:solidFill>
              <a:srgbClr val="FD6D67"/>
            </a:solidFill>
          </p:spPr>
        </p:sp>
        <p:sp>
          <p:nvSpPr>
            <p:cNvPr id="17" name="Freeform 17"/>
            <p:cNvSpPr/>
            <p:nvPr/>
          </p:nvSpPr>
          <p:spPr>
            <a:xfrm>
              <a:off x="0" y="0"/>
              <a:ext cx="4446270" cy="7248906"/>
            </a:xfrm>
            <a:custGeom>
              <a:avLst/>
              <a:gdLst/>
              <a:ahLst/>
              <a:cxnLst/>
              <a:rect l="l" t="t" r="r" b="b"/>
              <a:pathLst>
                <a:path w="4446270" h="7248906">
                  <a:moveTo>
                    <a:pt x="38100" y="0"/>
                  </a:moveTo>
                  <a:lnTo>
                    <a:pt x="4408170" y="0"/>
                  </a:lnTo>
                  <a:cubicBezTo>
                    <a:pt x="4429252" y="0"/>
                    <a:pt x="4446270" y="17018"/>
                    <a:pt x="4446270" y="38100"/>
                  </a:cubicBezTo>
                  <a:lnTo>
                    <a:pt x="4446270" y="7210806"/>
                  </a:lnTo>
                  <a:cubicBezTo>
                    <a:pt x="4446270" y="7231888"/>
                    <a:pt x="4429252" y="7248906"/>
                    <a:pt x="4408170" y="7248906"/>
                  </a:cubicBezTo>
                  <a:lnTo>
                    <a:pt x="38100" y="7248906"/>
                  </a:lnTo>
                  <a:cubicBezTo>
                    <a:pt x="17018" y="7248906"/>
                    <a:pt x="0" y="7231888"/>
                    <a:pt x="0" y="7210806"/>
                  </a:cubicBezTo>
                  <a:lnTo>
                    <a:pt x="0" y="38100"/>
                  </a:lnTo>
                  <a:cubicBezTo>
                    <a:pt x="0" y="17018"/>
                    <a:pt x="17018" y="0"/>
                    <a:pt x="38100" y="0"/>
                  </a:cubicBezTo>
                  <a:moveTo>
                    <a:pt x="38100" y="76200"/>
                  </a:moveTo>
                  <a:lnTo>
                    <a:pt x="38100" y="38100"/>
                  </a:lnTo>
                  <a:lnTo>
                    <a:pt x="76200" y="38100"/>
                  </a:lnTo>
                  <a:lnTo>
                    <a:pt x="76200" y="7210806"/>
                  </a:lnTo>
                  <a:lnTo>
                    <a:pt x="38100" y="7210806"/>
                  </a:lnTo>
                  <a:lnTo>
                    <a:pt x="38100" y="7172706"/>
                  </a:lnTo>
                  <a:lnTo>
                    <a:pt x="4408170" y="7172706"/>
                  </a:lnTo>
                  <a:lnTo>
                    <a:pt x="4408170" y="7210806"/>
                  </a:lnTo>
                  <a:lnTo>
                    <a:pt x="4370070" y="7210806"/>
                  </a:lnTo>
                  <a:lnTo>
                    <a:pt x="4370070" y="38100"/>
                  </a:lnTo>
                  <a:lnTo>
                    <a:pt x="4408170" y="38100"/>
                  </a:lnTo>
                  <a:lnTo>
                    <a:pt x="4408170" y="76200"/>
                  </a:lnTo>
                  <a:lnTo>
                    <a:pt x="38100" y="76200"/>
                  </a:lnTo>
                  <a:close/>
                </a:path>
              </a:pathLst>
            </a:custGeom>
            <a:solidFill>
              <a:srgbClr val="B00902"/>
            </a:solidFill>
          </p:spPr>
        </p:sp>
      </p:grpSp>
      <p:grpSp>
        <p:nvGrpSpPr>
          <p:cNvPr id="18" name="Group 18"/>
          <p:cNvGrpSpPr/>
          <p:nvPr/>
        </p:nvGrpSpPr>
        <p:grpSpPr>
          <a:xfrm>
            <a:off x="14494587" y="927163"/>
            <a:ext cx="3642009" cy="5937619"/>
            <a:chOff x="0" y="0"/>
            <a:chExt cx="4446318" cy="7248896"/>
          </a:xfrm>
        </p:grpSpPr>
        <p:sp>
          <p:nvSpPr>
            <p:cNvPr id="19" name="Freeform 19"/>
            <p:cNvSpPr/>
            <p:nvPr/>
          </p:nvSpPr>
          <p:spPr>
            <a:xfrm>
              <a:off x="38100" y="38100"/>
              <a:ext cx="4370070" cy="7172706"/>
            </a:xfrm>
            <a:custGeom>
              <a:avLst/>
              <a:gdLst/>
              <a:ahLst/>
              <a:cxnLst/>
              <a:rect l="l" t="t" r="r" b="b"/>
              <a:pathLst>
                <a:path w="4370070" h="7172706">
                  <a:moveTo>
                    <a:pt x="0" y="0"/>
                  </a:moveTo>
                  <a:lnTo>
                    <a:pt x="4370070" y="0"/>
                  </a:lnTo>
                  <a:lnTo>
                    <a:pt x="4370070" y="7172706"/>
                  </a:lnTo>
                  <a:lnTo>
                    <a:pt x="0" y="7172706"/>
                  </a:lnTo>
                  <a:close/>
                </a:path>
              </a:pathLst>
            </a:custGeom>
            <a:solidFill>
              <a:srgbClr val="015E61">
                <a:alpha val="70980"/>
              </a:srgbClr>
            </a:solidFill>
          </p:spPr>
        </p:sp>
        <p:sp>
          <p:nvSpPr>
            <p:cNvPr id="20" name="Freeform 20"/>
            <p:cNvSpPr/>
            <p:nvPr/>
          </p:nvSpPr>
          <p:spPr>
            <a:xfrm>
              <a:off x="0" y="0"/>
              <a:ext cx="4446270" cy="7248906"/>
            </a:xfrm>
            <a:custGeom>
              <a:avLst/>
              <a:gdLst/>
              <a:ahLst/>
              <a:cxnLst/>
              <a:rect l="l" t="t" r="r" b="b"/>
              <a:pathLst>
                <a:path w="4446270" h="7248906">
                  <a:moveTo>
                    <a:pt x="38100" y="0"/>
                  </a:moveTo>
                  <a:lnTo>
                    <a:pt x="4408170" y="0"/>
                  </a:lnTo>
                  <a:cubicBezTo>
                    <a:pt x="4429252" y="0"/>
                    <a:pt x="4446270" y="17018"/>
                    <a:pt x="4446270" y="38100"/>
                  </a:cubicBezTo>
                  <a:lnTo>
                    <a:pt x="4446270" y="7210806"/>
                  </a:lnTo>
                  <a:cubicBezTo>
                    <a:pt x="4446270" y="7231888"/>
                    <a:pt x="4429252" y="7248906"/>
                    <a:pt x="4408170" y="7248906"/>
                  </a:cubicBezTo>
                  <a:lnTo>
                    <a:pt x="38100" y="7248906"/>
                  </a:lnTo>
                  <a:cubicBezTo>
                    <a:pt x="17018" y="7248906"/>
                    <a:pt x="0" y="7231888"/>
                    <a:pt x="0" y="7210806"/>
                  </a:cubicBezTo>
                  <a:lnTo>
                    <a:pt x="0" y="38100"/>
                  </a:lnTo>
                  <a:cubicBezTo>
                    <a:pt x="0" y="17018"/>
                    <a:pt x="17018" y="0"/>
                    <a:pt x="38100" y="0"/>
                  </a:cubicBezTo>
                  <a:moveTo>
                    <a:pt x="38100" y="76200"/>
                  </a:moveTo>
                  <a:lnTo>
                    <a:pt x="38100" y="38100"/>
                  </a:lnTo>
                  <a:lnTo>
                    <a:pt x="76200" y="38100"/>
                  </a:lnTo>
                  <a:lnTo>
                    <a:pt x="76200" y="7210806"/>
                  </a:lnTo>
                  <a:lnTo>
                    <a:pt x="38100" y="7210806"/>
                  </a:lnTo>
                  <a:lnTo>
                    <a:pt x="38100" y="7172706"/>
                  </a:lnTo>
                  <a:lnTo>
                    <a:pt x="4408170" y="7172706"/>
                  </a:lnTo>
                  <a:lnTo>
                    <a:pt x="4408170" y="7210806"/>
                  </a:lnTo>
                  <a:lnTo>
                    <a:pt x="4370070" y="7210806"/>
                  </a:lnTo>
                  <a:lnTo>
                    <a:pt x="4370070" y="38100"/>
                  </a:lnTo>
                  <a:lnTo>
                    <a:pt x="4408170" y="38100"/>
                  </a:lnTo>
                  <a:lnTo>
                    <a:pt x="4408170" y="76200"/>
                  </a:lnTo>
                  <a:lnTo>
                    <a:pt x="38100" y="76200"/>
                  </a:lnTo>
                  <a:close/>
                </a:path>
              </a:pathLst>
            </a:custGeom>
            <a:solidFill>
              <a:srgbClr val="222A35">
                <a:alpha val="70980"/>
              </a:srgbClr>
            </a:solidFill>
          </p:spPr>
        </p:sp>
      </p:grpSp>
      <p:grpSp>
        <p:nvGrpSpPr>
          <p:cNvPr id="21" name="Group 21"/>
          <p:cNvGrpSpPr/>
          <p:nvPr/>
        </p:nvGrpSpPr>
        <p:grpSpPr>
          <a:xfrm>
            <a:off x="3700679" y="927165"/>
            <a:ext cx="3642009" cy="3405269"/>
            <a:chOff x="0" y="0"/>
            <a:chExt cx="4446318" cy="4157296"/>
          </a:xfrm>
        </p:grpSpPr>
        <p:sp>
          <p:nvSpPr>
            <p:cNvPr id="22" name="Freeform 22"/>
            <p:cNvSpPr/>
            <p:nvPr/>
          </p:nvSpPr>
          <p:spPr>
            <a:xfrm>
              <a:off x="38100" y="42511"/>
              <a:ext cx="4370070" cy="4072318"/>
            </a:xfrm>
            <a:custGeom>
              <a:avLst/>
              <a:gdLst/>
              <a:ahLst/>
              <a:cxnLst/>
              <a:rect l="l" t="t" r="r" b="b"/>
              <a:pathLst>
                <a:path w="4370070" h="4072318">
                  <a:moveTo>
                    <a:pt x="0" y="0"/>
                  </a:moveTo>
                  <a:lnTo>
                    <a:pt x="4370070" y="0"/>
                  </a:lnTo>
                  <a:lnTo>
                    <a:pt x="4370070" y="4072318"/>
                  </a:lnTo>
                  <a:lnTo>
                    <a:pt x="0" y="4072318"/>
                  </a:lnTo>
                  <a:close/>
                </a:path>
              </a:pathLst>
            </a:custGeom>
            <a:solidFill>
              <a:srgbClr val="A2CD37"/>
            </a:solidFill>
          </p:spPr>
        </p:sp>
        <p:sp>
          <p:nvSpPr>
            <p:cNvPr id="23" name="Freeform 23"/>
            <p:cNvSpPr/>
            <p:nvPr/>
          </p:nvSpPr>
          <p:spPr>
            <a:xfrm>
              <a:off x="0" y="0"/>
              <a:ext cx="4446270" cy="4157336"/>
            </a:xfrm>
            <a:custGeom>
              <a:avLst/>
              <a:gdLst/>
              <a:ahLst/>
              <a:cxnLst/>
              <a:rect l="l" t="t" r="r" b="b"/>
              <a:pathLst>
                <a:path w="4446270" h="4157336">
                  <a:moveTo>
                    <a:pt x="38100" y="0"/>
                  </a:moveTo>
                  <a:lnTo>
                    <a:pt x="4408170" y="0"/>
                  </a:lnTo>
                  <a:cubicBezTo>
                    <a:pt x="4429252" y="0"/>
                    <a:pt x="4446270" y="18988"/>
                    <a:pt x="4446270" y="42511"/>
                  </a:cubicBezTo>
                  <a:lnTo>
                    <a:pt x="4446270" y="4114829"/>
                  </a:lnTo>
                  <a:cubicBezTo>
                    <a:pt x="4446270" y="4138352"/>
                    <a:pt x="4429252" y="4157336"/>
                    <a:pt x="4408170" y="4157336"/>
                  </a:cubicBezTo>
                  <a:lnTo>
                    <a:pt x="38100" y="4157336"/>
                  </a:lnTo>
                  <a:cubicBezTo>
                    <a:pt x="17018" y="4157336"/>
                    <a:pt x="0" y="4138352"/>
                    <a:pt x="0" y="4114829"/>
                  </a:cubicBezTo>
                  <a:lnTo>
                    <a:pt x="0" y="42511"/>
                  </a:lnTo>
                  <a:cubicBezTo>
                    <a:pt x="0" y="18988"/>
                    <a:pt x="17018" y="0"/>
                    <a:pt x="38100" y="0"/>
                  </a:cubicBezTo>
                  <a:moveTo>
                    <a:pt x="38100" y="85023"/>
                  </a:moveTo>
                  <a:lnTo>
                    <a:pt x="38100" y="42511"/>
                  </a:lnTo>
                  <a:lnTo>
                    <a:pt x="76200" y="42511"/>
                  </a:lnTo>
                  <a:lnTo>
                    <a:pt x="76200" y="4114829"/>
                  </a:lnTo>
                  <a:lnTo>
                    <a:pt x="38100" y="4114829"/>
                  </a:lnTo>
                  <a:lnTo>
                    <a:pt x="38100" y="4072318"/>
                  </a:lnTo>
                  <a:lnTo>
                    <a:pt x="4408170" y="4072318"/>
                  </a:lnTo>
                  <a:lnTo>
                    <a:pt x="4408170" y="4114829"/>
                  </a:lnTo>
                  <a:lnTo>
                    <a:pt x="4370070" y="4114829"/>
                  </a:lnTo>
                  <a:lnTo>
                    <a:pt x="4370070" y="42511"/>
                  </a:lnTo>
                  <a:lnTo>
                    <a:pt x="4408170" y="42511"/>
                  </a:lnTo>
                  <a:lnTo>
                    <a:pt x="4408170" y="85023"/>
                  </a:lnTo>
                  <a:lnTo>
                    <a:pt x="38100" y="85023"/>
                  </a:lnTo>
                  <a:close/>
                </a:path>
              </a:pathLst>
            </a:custGeom>
            <a:solidFill>
              <a:srgbClr val="52681A"/>
            </a:solidFill>
          </p:spPr>
        </p:sp>
      </p:grpSp>
      <p:grpSp>
        <p:nvGrpSpPr>
          <p:cNvPr id="24" name="Group 24"/>
          <p:cNvGrpSpPr/>
          <p:nvPr/>
        </p:nvGrpSpPr>
        <p:grpSpPr>
          <a:xfrm>
            <a:off x="3700679" y="4279418"/>
            <a:ext cx="3642009" cy="2585368"/>
            <a:chOff x="0" y="0"/>
            <a:chExt cx="4446318" cy="3156326"/>
          </a:xfrm>
        </p:grpSpPr>
        <p:sp>
          <p:nvSpPr>
            <p:cNvPr id="25" name="Freeform 25"/>
            <p:cNvSpPr/>
            <p:nvPr/>
          </p:nvSpPr>
          <p:spPr>
            <a:xfrm>
              <a:off x="38100" y="33412"/>
              <a:ext cx="4370070" cy="3089476"/>
            </a:xfrm>
            <a:custGeom>
              <a:avLst/>
              <a:gdLst/>
              <a:ahLst/>
              <a:cxnLst/>
              <a:rect l="l" t="t" r="r" b="b"/>
              <a:pathLst>
                <a:path w="4370070" h="3089476">
                  <a:moveTo>
                    <a:pt x="0" y="0"/>
                  </a:moveTo>
                  <a:lnTo>
                    <a:pt x="4370070" y="0"/>
                  </a:lnTo>
                  <a:lnTo>
                    <a:pt x="4370070" y="3089476"/>
                  </a:lnTo>
                  <a:lnTo>
                    <a:pt x="0" y="3089476"/>
                  </a:lnTo>
                  <a:close/>
                </a:path>
              </a:pathLst>
            </a:custGeom>
            <a:solidFill>
              <a:srgbClr val="00B0F0"/>
            </a:solidFill>
          </p:spPr>
        </p:sp>
        <p:sp>
          <p:nvSpPr>
            <p:cNvPr id="26" name="Freeform 26"/>
            <p:cNvSpPr/>
            <p:nvPr/>
          </p:nvSpPr>
          <p:spPr>
            <a:xfrm>
              <a:off x="0" y="0"/>
              <a:ext cx="4446270" cy="3156300"/>
            </a:xfrm>
            <a:custGeom>
              <a:avLst/>
              <a:gdLst/>
              <a:ahLst/>
              <a:cxnLst/>
              <a:rect l="l" t="t" r="r" b="b"/>
              <a:pathLst>
                <a:path w="4446270" h="3156300">
                  <a:moveTo>
                    <a:pt x="38100" y="0"/>
                  </a:moveTo>
                  <a:lnTo>
                    <a:pt x="4408170" y="0"/>
                  </a:lnTo>
                  <a:cubicBezTo>
                    <a:pt x="4429252" y="0"/>
                    <a:pt x="4446270" y="14924"/>
                    <a:pt x="4446270" y="33412"/>
                  </a:cubicBezTo>
                  <a:lnTo>
                    <a:pt x="4446270" y="3122888"/>
                  </a:lnTo>
                  <a:cubicBezTo>
                    <a:pt x="4446270" y="3141376"/>
                    <a:pt x="4429252" y="3156300"/>
                    <a:pt x="4408170" y="3156300"/>
                  </a:cubicBezTo>
                  <a:lnTo>
                    <a:pt x="38100" y="3156300"/>
                  </a:lnTo>
                  <a:cubicBezTo>
                    <a:pt x="17018" y="3156300"/>
                    <a:pt x="0" y="3141376"/>
                    <a:pt x="0" y="3122888"/>
                  </a:cubicBezTo>
                  <a:lnTo>
                    <a:pt x="0" y="33412"/>
                  </a:lnTo>
                  <a:cubicBezTo>
                    <a:pt x="0" y="14924"/>
                    <a:pt x="17018" y="0"/>
                    <a:pt x="38100" y="0"/>
                  </a:cubicBezTo>
                  <a:moveTo>
                    <a:pt x="38100" y="66824"/>
                  </a:moveTo>
                  <a:lnTo>
                    <a:pt x="38100" y="33412"/>
                  </a:lnTo>
                  <a:lnTo>
                    <a:pt x="76200" y="33412"/>
                  </a:lnTo>
                  <a:lnTo>
                    <a:pt x="76200" y="3122888"/>
                  </a:lnTo>
                  <a:lnTo>
                    <a:pt x="38100" y="3122888"/>
                  </a:lnTo>
                  <a:lnTo>
                    <a:pt x="38100" y="3089476"/>
                  </a:lnTo>
                  <a:lnTo>
                    <a:pt x="4408170" y="3089476"/>
                  </a:lnTo>
                  <a:lnTo>
                    <a:pt x="4408170" y="3122888"/>
                  </a:lnTo>
                  <a:lnTo>
                    <a:pt x="4370070" y="3122888"/>
                  </a:lnTo>
                  <a:lnTo>
                    <a:pt x="4370070" y="33412"/>
                  </a:lnTo>
                  <a:lnTo>
                    <a:pt x="4408170" y="33412"/>
                  </a:lnTo>
                  <a:lnTo>
                    <a:pt x="4408170" y="66824"/>
                  </a:lnTo>
                  <a:lnTo>
                    <a:pt x="38100" y="66824"/>
                  </a:lnTo>
                  <a:close/>
                </a:path>
              </a:pathLst>
            </a:custGeom>
            <a:solidFill>
              <a:srgbClr val="015E61"/>
            </a:solidFill>
          </p:spPr>
        </p:sp>
      </p:grpSp>
      <p:grpSp>
        <p:nvGrpSpPr>
          <p:cNvPr id="27" name="Group 27"/>
          <p:cNvGrpSpPr/>
          <p:nvPr/>
        </p:nvGrpSpPr>
        <p:grpSpPr>
          <a:xfrm>
            <a:off x="10882564" y="927165"/>
            <a:ext cx="3642009" cy="3051898"/>
            <a:chOff x="0" y="0"/>
            <a:chExt cx="4446318" cy="3725886"/>
          </a:xfrm>
        </p:grpSpPr>
        <p:sp>
          <p:nvSpPr>
            <p:cNvPr id="28" name="Freeform 28"/>
            <p:cNvSpPr/>
            <p:nvPr/>
          </p:nvSpPr>
          <p:spPr>
            <a:xfrm>
              <a:off x="38100" y="38100"/>
              <a:ext cx="4370070" cy="3649726"/>
            </a:xfrm>
            <a:custGeom>
              <a:avLst/>
              <a:gdLst/>
              <a:ahLst/>
              <a:cxnLst/>
              <a:rect l="l" t="t" r="r" b="b"/>
              <a:pathLst>
                <a:path w="4370070" h="3649726">
                  <a:moveTo>
                    <a:pt x="0" y="0"/>
                  </a:moveTo>
                  <a:lnTo>
                    <a:pt x="4370070" y="0"/>
                  </a:lnTo>
                  <a:lnTo>
                    <a:pt x="4370070" y="3649726"/>
                  </a:lnTo>
                  <a:lnTo>
                    <a:pt x="0" y="3649726"/>
                  </a:lnTo>
                  <a:close/>
                </a:path>
              </a:pathLst>
            </a:custGeom>
            <a:solidFill>
              <a:srgbClr val="EAA31B"/>
            </a:solidFill>
          </p:spPr>
        </p:sp>
        <p:sp>
          <p:nvSpPr>
            <p:cNvPr id="29" name="Freeform 29"/>
            <p:cNvSpPr/>
            <p:nvPr/>
          </p:nvSpPr>
          <p:spPr>
            <a:xfrm>
              <a:off x="0" y="0"/>
              <a:ext cx="4446270" cy="3725926"/>
            </a:xfrm>
            <a:custGeom>
              <a:avLst/>
              <a:gdLst/>
              <a:ahLst/>
              <a:cxnLst/>
              <a:rect l="l" t="t" r="r" b="b"/>
              <a:pathLst>
                <a:path w="4446270" h="3725926">
                  <a:moveTo>
                    <a:pt x="38100" y="0"/>
                  </a:moveTo>
                  <a:lnTo>
                    <a:pt x="4408170" y="0"/>
                  </a:lnTo>
                  <a:cubicBezTo>
                    <a:pt x="4429252" y="0"/>
                    <a:pt x="4446270" y="17018"/>
                    <a:pt x="4446270" y="38100"/>
                  </a:cubicBezTo>
                  <a:lnTo>
                    <a:pt x="4446270" y="3687826"/>
                  </a:lnTo>
                  <a:cubicBezTo>
                    <a:pt x="4446270" y="3708908"/>
                    <a:pt x="4429252" y="3725926"/>
                    <a:pt x="4408170" y="3725926"/>
                  </a:cubicBezTo>
                  <a:lnTo>
                    <a:pt x="38100" y="3725926"/>
                  </a:lnTo>
                  <a:cubicBezTo>
                    <a:pt x="17018" y="3725926"/>
                    <a:pt x="0" y="3708908"/>
                    <a:pt x="0" y="3687826"/>
                  </a:cubicBezTo>
                  <a:lnTo>
                    <a:pt x="0" y="38100"/>
                  </a:lnTo>
                  <a:cubicBezTo>
                    <a:pt x="0" y="17018"/>
                    <a:pt x="17018" y="0"/>
                    <a:pt x="38100" y="0"/>
                  </a:cubicBezTo>
                  <a:moveTo>
                    <a:pt x="38100" y="76200"/>
                  </a:moveTo>
                  <a:lnTo>
                    <a:pt x="38100" y="38100"/>
                  </a:lnTo>
                  <a:lnTo>
                    <a:pt x="76200" y="38100"/>
                  </a:lnTo>
                  <a:lnTo>
                    <a:pt x="76200" y="3687826"/>
                  </a:lnTo>
                  <a:lnTo>
                    <a:pt x="38100" y="3687826"/>
                  </a:lnTo>
                  <a:lnTo>
                    <a:pt x="38100" y="3649726"/>
                  </a:lnTo>
                  <a:lnTo>
                    <a:pt x="4408170" y="3649726"/>
                  </a:lnTo>
                  <a:lnTo>
                    <a:pt x="4408170" y="3687826"/>
                  </a:lnTo>
                  <a:lnTo>
                    <a:pt x="4370070" y="3687826"/>
                  </a:lnTo>
                  <a:lnTo>
                    <a:pt x="4370070" y="38100"/>
                  </a:lnTo>
                  <a:lnTo>
                    <a:pt x="4408170" y="38100"/>
                  </a:lnTo>
                  <a:lnTo>
                    <a:pt x="4408170" y="76200"/>
                  </a:lnTo>
                  <a:lnTo>
                    <a:pt x="38100" y="76200"/>
                  </a:lnTo>
                  <a:close/>
                </a:path>
              </a:pathLst>
            </a:custGeom>
            <a:solidFill>
              <a:srgbClr val="77520B"/>
            </a:solidFill>
          </p:spPr>
        </p:sp>
      </p:grpSp>
      <p:grpSp>
        <p:nvGrpSpPr>
          <p:cNvPr id="30" name="Group 30"/>
          <p:cNvGrpSpPr/>
          <p:nvPr/>
        </p:nvGrpSpPr>
        <p:grpSpPr>
          <a:xfrm>
            <a:off x="10902018" y="3916649"/>
            <a:ext cx="3642009" cy="2948137"/>
            <a:chOff x="0" y="0"/>
            <a:chExt cx="4446318" cy="3599210"/>
          </a:xfrm>
        </p:grpSpPr>
        <p:sp>
          <p:nvSpPr>
            <p:cNvPr id="31" name="Freeform 31"/>
            <p:cNvSpPr/>
            <p:nvPr/>
          </p:nvSpPr>
          <p:spPr>
            <a:xfrm>
              <a:off x="38100" y="38100"/>
              <a:ext cx="4370070" cy="3522980"/>
            </a:xfrm>
            <a:custGeom>
              <a:avLst/>
              <a:gdLst/>
              <a:ahLst/>
              <a:cxnLst/>
              <a:rect l="l" t="t" r="r" b="b"/>
              <a:pathLst>
                <a:path w="4370070" h="3522980">
                  <a:moveTo>
                    <a:pt x="0" y="0"/>
                  </a:moveTo>
                  <a:lnTo>
                    <a:pt x="4370070" y="0"/>
                  </a:lnTo>
                  <a:lnTo>
                    <a:pt x="4370070" y="3522980"/>
                  </a:lnTo>
                  <a:lnTo>
                    <a:pt x="0" y="3522980"/>
                  </a:lnTo>
                  <a:close/>
                </a:path>
              </a:pathLst>
            </a:custGeom>
            <a:solidFill>
              <a:srgbClr val="934584"/>
            </a:solidFill>
          </p:spPr>
        </p:sp>
        <p:sp>
          <p:nvSpPr>
            <p:cNvPr id="32" name="Freeform 32"/>
            <p:cNvSpPr/>
            <p:nvPr/>
          </p:nvSpPr>
          <p:spPr>
            <a:xfrm>
              <a:off x="0" y="0"/>
              <a:ext cx="4446270" cy="3599180"/>
            </a:xfrm>
            <a:custGeom>
              <a:avLst/>
              <a:gdLst/>
              <a:ahLst/>
              <a:cxnLst/>
              <a:rect l="l" t="t" r="r" b="b"/>
              <a:pathLst>
                <a:path w="4446270" h="3599180">
                  <a:moveTo>
                    <a:pt x="38100" y="0"/>
                  </a:moveTo>
                  <a:lnTo>
                    <a:pt x="4408170" y="0"/>
                  </a:lnTo>
                  <a:cubicBezTo>
                    <a:pt x="4429252" y="0"/>
                    <a:pt x="4446270" y="17018"/>
                    <a:pt x="4446270" y="38100"/>
                  </a:cubicBezTo>
                  <a:lnTo>
                    <a:pt x="4446270" y="3561080"/>
                  </a:lnTo>
                  <a:cubicBezTo>
                    <a:pt x="4446270" y="3582162"/>
                    <a:pt x="4429252" y="3599180"/>
                    <a:pt x="4408170" y="3599180"/>
                  </a:cubicBezTo>
                  <a:lnTo>
                    <a:pt x="38100" y="3599180"/>
                  </a:lnTo>
                  <a:cubicBezTo>
                    <a:pt x="17018" y="3599180"/>
                    <a:pt x="0" y="3582162"/>
                    <a:pt x="0" y="3561080"/>
                  </a:cubicBezTo>
                  <a:lnTo>
                    <a:pt x="0" y="38100"/>
                  </a:lnTo>
                  <a:cubicBezTo>
                    <a:pt x="0" y="17018"/>
                    <a:pt x="17018" y="0"/>
                    <a:pt x="38100" y="0"/>
                  </a:cubicBezTo>
                  <a:moveTo>
                    <a:pt x="38100" y="76200"/>
                  </a:moveTo>
                  <a:lnTo>
                    <a:pt x="38100" y="38100"/>
                  </a:lnTo>
                  <a:lnTo>
                    <a:pt x="76200" y="38100"/>
                  </a:lnTo>
                  <a:lnTo>
                    <a:pt x="76200" y="3561080"/>
                  </a:lnTo>
                  <a:lnTo>
                    <a:pt x="38100" y="3561080"/>
                  </a:lnTo>
                  <a:lnTo>
                    <a:pt x="38100" y="3522980"/>
                  </a:lnTo>
                  <a:lnTo>
                    <a:pt x="4408170" y="3522980"/>
                  </a:lnTo>
                  <a:lnTo>
                    <a:pt x="4408170" y="3561080"/>
                  </a:lnTo>
                  <a:lnTo>
                    <a:pt x="4370070" y="3561080"/>
                  </a:lnTo>
                  <a:lnTo>
                    <a:pt x="4370070" y="38100"/>
                  </a:lnTo>
                  <a:lnTo>
                    <a:pt x="4408170" y="38100"/>
                  </a:lnTo>
                  <a:lnTo>
                    <a:pt x="4408170" y="76200"/>
                  </a:lnTo>
                  <a:lnTo>
                    <a:pt x="38100" y="76200"/>
                  </a:lnTo>
                  <a:close/>
                </a:path>
              </a:pathLst>
            </a:custGeom>
            <a:solidFill>
              <a:srgbClr val="4A2342"/>
            </a:solidFill>
          </p:spPr>
        </p:sp>
      </p:grpSp>
      <p:sp>
        <p:nvSpPr>
          <p:cNvPr id="33" name="TextBox 33"/>
          <p:cNvSpPr txBox="1"/>
          <p:nvPr/>
        </p:nvSpPr>
        <p:spPr>
          <a:xfrm>
            <a:off x="229460" y="979730"/>
            <a:ext cx="2909475" cy="569513"/>
          </a:xfrm>
          <a:prstGeom prst="rect">
            <a:avLst/>
          </a:prstGeom>
        </p:spPr>
        <p:txBody>
          <a:bodyPr lIns="0" tIns="0" rIns="0" bIns="0" rtlCol="0" anchor="t">
            <a:spAutoFit/>
          </a:bodyPr>
          <a:lstStyle/>
          <a:p>
            <a:pPr algn="ctr">
              <a:lnSpc>
                <a:spcPts val="4324"/>
              </a:lnSpc>
            </a:pPr>
            <a:r>
              <a:rPr lang="en-US" sz="3604">
                <a:solidFill>
                  <a:srgbClr val="FFFFFF"/>
                </a:solidFill>
                <a:latin typeface="Arimo Bold"/>
                <a:ea typeface="Arimo Bold"/>
                <a:cs typeface="Arimo Bold"/>
                <a:sym typeface="Arimo Bold"/>
              </a:rPr>
              <a:t>Key Partners</a:t>
            </a:r>
          </a:p>
        </p:txBody>
      </p:sp>
      <p:sp>
        <p:nvSpPr>
          <p:cNvPr id="34" name="TextBox 34"/>
          <p:cNvSpPr txBox="1"/>
          <p:nvPr/>
        </p:nvSpPr>
        <p:spPr>
          <a:xfrm>
            <a:off x="3831752" y="989255"/>
            <a:ext cx="2912961" cy="549585"/>
          </a:xfrm>
          <a:prstGeom prst="rect">
            <a:avLst/>
          </a:prstGeom>
        </p:spPr>
        <p:txBody>
          <a:bodyPr lIns="0" tIns="0" rIns="0" bIns="0" rtlCol="0" anchor="t">
            <a:spAutoFit/>
          </a:bodyPr>
          <a:lstStyle/>
          <a:p>
            <a:pPr algn="l">
              <a:lnSpc>
                <a:spcPts val="4193"/>
              </a:lnSpc>
            </a:pPr>
            <a:r>
              <a:rPr lang="en-US" sz="3494">
                <a:solidFill>
                  <a:srgbClr val="FFFFFF"/>
                </a:solidFill>
                <a:latin typeface="Arimo Bold"/>
                <a:ea typeface="Arimo Bold"/>
                <a:cs typeface="Arimo Bold"/>
                <a:sym typeface="Arimo Bold"/>
              </a:rPr>
              <a:t>Key Activities </a:t>
            </a:r>
          </a:p>
        </p:txBody>
      </p:sp>
      <p:sp>
        <p:nvSpPr>
          <p:cNvPr id="35" name="TextBox 35"/>
          <p:cNvSpPr txBox="1"/>
          <p:nvPr/>
        </p:nvSpPr>
        <p:spPr>
          <a:xfrm>
            <a:off x="3819632" y="4390504"/>
            <a:ext cx="3451514" cy="528780"/>
          </a:xfrm>
          <a:prstGeom prst="rect">
            <a:avLst/>
          </a:prstGeom>
        </p:spPr>
        <p:txBody>
          <a:bodyPr lIns="0" tIns="0" rIns="0" bIns="0" rtlCol="0" anchor="t">
            <a:spAutoFit/>
          </a:bodyPr>
          <a:lstStyle/>
          <a:p>
            <a:pPr algn="l">
              <a:lnSpc>
                <a:spcPts val="4062"/>
              </a:lnSpc>
            </a:pPr>
            <a:r>
              <a:rPr lang="en-US" sz="3385">
                <a:solidFill>
                  <a:srgbClr val="FFFFFF"/>
                </a:solidFill>
                <a:latin typeface="Arimo Bold"/>
                <a:ea typeface="Arimo Bold"/>
                <a:cs typeface="Arimo Bold"/>
                <a:sym typeface="Arimo Bold"/>
              </a:rPr>
              <a:t>Key Resources</a:t>
            </a:r>
          </a:p>
        </p:txBody>
      </p:sp>
      <p:sp>
        <p:nvSpPr>
          <p:cNvPr id="36" name="TextBox 36"/>
          <p:cNvSpPr txBox="1"/>
          <p:nvPr/>
        </p:nvSpPr>
        <p:spPr>
          <a:xfrm>
            <a:off x="7411345" y="989255"/>
            <a:ext cx="2912960" cy="1080121"/>
          </a:xfrm>
          <a:prstGeom prst="rect">
            <a:avLst/>
          </a:prstGeom>
        </p:spPr>
        <p:txBody>
          <a:bodyPr lIns="0" tIns="0" rIns="0" bIns="0" rtlCol="0" anchor="t">
            <a:spAutoFit/>
          </a:bodyPr>
          <a:lstStyle/>
          <a:p>
            <a:pPr algn="l">
              <a:lnSpc>
                <a:spcPts val="4193"/>
              </a:lnSpc>
            </a:pPr>
            <a:r>
              <a:rPr lang="en-US" sz="3494">
                <a:solidFill>
                  <a:srgbClr val="FFFFFF"/>
                </a:solidFill>
                <a:latin typeface="Arimo Bold"/>
                <a:ea typeface="Arimo Bold"/>
                <a:cs typeface="Arimo Bold"/>
                <a:sym typeface="Arimo Bold"/>
              </a:rPr>
              <a:t>Value propositions</a:t>
            </a:r>
          </a:p>
        </p:txBody>
      </p:sp>
      <p:sp>
        <p:nvSpPr>
          <p:cNvPr id="37" name="TextBox 37"/>
          <p:cNvSpPr txBox="1"/>
          <p:nvPr/>
        </p:nvSpPr>
        <p:spPr>
          <a:xfrm>
            <a:off x="14693750" y="989255"/>
            <a:ext cx="3243684" cy="1080121"/>
          </a:xfrm>
          <a:prstGeom prst="rect">
            <a:avLst/>
          </a:prstGeom>
        </p:spPr>
        <p:txBody>
          <a:bodyPr lIns="0" tIns="0" rIns="0" bIns="0" rtlCol="0" anchor="t">
            <a:spAutoFit/>
          </a:bodyPr>
          <a:lstStyle/>
          <a:p>
            <a:pPr algn="l">
              <a:lnSpc>
                <a:spcPts val="4193"/>
              </a:lnSpc>
            </a:pPr>
            <a:r>
              <a:rPr lang="en-US" sz="3494">
                <a:solidFill>
                  <a:srgbClr val="FFFFFF"/>
                </a:solidFill>
                <a:latin typeface="Arimo Bold"/>
                <a:ea typeface="Arimo Bold"/>
                <a:cs typeface="Arimo Bold"/>
                <a:sym typeface="Arimo Bold"/>
              </a:rPr>
              <a:t>Customer  Relationships </a:t>
            </a:r>
          </a:p>
        </p:txBody>
      </p:sp>
      <p:sp>
        <p:nvSpPr>
          <p:cNvPr id="38" name="TextBox 38"/>
          <p:cNvSpPr txBox="1"/>
          <p:nvPr/>
        </p:nvSpPr>
        <p:spPr>
          <a:xfrm>
            <a:off x="11069972" y="970019"/>
            <a:ext cx="2684632" cy="1080121"/>
          </a:xfrm>
          <a:prstGeom prst="rect">
            <a:avLst/>
          </a:prstGeom>
        </p:spPr>
        <p:txBody>
          <a:bodyPr lIns="0" tIns="0" rIns="0" bIns="0" rtlCol="0" anchor="t">
            <a:spAutoFit/>
          </a:bodyPr>
          <a:lstStyle/>
          <a:p>
            <a:pPr algn="l">
              <a:lnSpc>
                <a:spcPts val="4193"/>
              </a:lnSpc>
            </a:pPr>
            <a:r>
              <a:rPr lang="en-US" sz="3494">
                <a:solidFill>
                  <a:srgbClr val="FFFFFF"/>
                </a:solidFill>
                <a:latin typeface="Arimo Bold"/>
                <a:ea typeface="Arimo Bold"/>
                <a:cs typeface="Arimo Bold"/>
                <a:sym typeface="Arimo Bold"/>
              </a:rPr>
              <a:t>Customer Segments  </a:t>
            </a:r>
          </a:p>
        </p:txBody>
      </p:sp>
      <p:sp>
        <p:nvSpPr>
          <p:cNvPr id="39" name="TextBox 39"/>
          <p:cNvSpPr txBox="1"/>
          <p:nvPr/>
        </p:nvSpPr>
        <p:spPr>
          <a:xfrm>
            <a:off x="11198932" y="3960013"/>
            <a:ext cx="2139475" cy="549585"/>
          </a:xfrm>
          <a:prstGeom prst="rect">
            <a:avLst/>
          </a:prstGeom>
        </p:spPr>
        <p:txBody>
          <a:bodyPr lIns="0" tIns="0" rIns="0" bIns="0" rtlCol="0" anchor="t">
            <a:spAutoFit/>
          </a:bodyPr>
          <a:lstStyle/>
          <a:p>
            <a:pPr algn="l">
              <a:lnSpc>
                <a:spcPts val="4193"/>
              </a:lnSpc>
            </a:pPr>
            <a:r>
              <a:rPr lang="en-US" sz="3494">
                <a:solidFill>
                  <a:srgbClr val="FFFFFF"/>
                </a:solidFill>
                <a:latin typeface="Arimo Bold"/>
                <a:ea typeface="Arimo Bold"/>
                <a:cs typeface="Arimo Bold"/>
                <a:sym typeface="Arimo Bold"/>
              </a:rPr>
              <a:t>Channels </a:t>
            </a:r>
          </a:p>
        </p:txBody>
      </p:sp>
      <p:sp>
        <p:nvSpPr>
          <p:cNvPr id="40" name="TextBox 40"/>
          <p:cNvSpPr txBox="1"/>
          <p:nvPr/>
        </p:nvSpPr>
        <p:spPr>
          <a:xfrm>
            <a:off x="10665597" y="2054120"/>
            <a:ext cx="4232200" cy="2086631"/>
          </a:xfrm>
          <a:prstGeom prst="rect">
            <a:avLst/>
          </a:prstGeom>
        </p:spPr>
        <p:txBody>
          <a:bodyPr lIns="0" tIns="0" rIns="0" bIns="0" rtlCol="0" anchor="t">
            <a:spAutoFit/>
          </a:bodyPr>
          <a:lstStyle/>
          <a:p>
            <a:pPr marL="518743" lvl="1" indent="-259372" algn="l">
              <a:lnSpc>
                <a:spcPts val="2402"/>
              </a:lnSpc>
              <a:buFont typeface="Arial"/>
              <a:buChar char="•"/>
            </a:pPr>
            <a:r>
              <a:rPr lang="en-US" sz="2402" spc="-84">
                <a:solidFill>
                  <a:srgbClr val="000000"/>
                </a:solidFill>
                <a:latin typeface="Arimo Bold"/>
                <a:ea typeface="Arimo Bold"/>
                <a:cs typeface="Arimo Bold"/>
                <a:sym typeface="Arimo Bold"/>
              </a:rPr>
              <a:t>Automotive Manufacture</a:t>
            </a:r>
          </a:p>
          <a:p>
            <a:pPr marL="518743" lvl="1" indent="-259372" algn="l">
              <a:lnSpc>
                <a:spcPts val="2402"/>
              </a:lnSpc>
              <a:buFont typeface="Arial"/>
              <a:buChar char="•"/>
            </a:pPr>
            <a:r>
              <a:rPr lang="en-US" sz="2402" spc="-84">
                <a:solidFill>
                  <a:srgbClr val="000000"/>
                </a:solidFill>
                <a:latin typeface="Arimo Bold"/>
                <a:ea typeface="Arimo Bold"/>
                <a:cs typeface="Arimo Bold"/>
                <a:sym typeface="Arimo Bold"/>
              </a:rPr>
              <a:t>Insurance companies</a:t>
            </a:r>
          </a:p>
          <a:p>
            <a:pPr marL="518743" lvl="1" indent="-259372" algn="l">
              <a:lnSpc>
                <a:spcPts val="2402"/>
              </a:lnSpc>
              <a:buFont typeface="Arial"/>
              <a:buChar char="•"/>
            </a:pPr>
            <a:r>
              <a:rPr lang="en-US" sz="2402" spc="-84">
                <a:solidFill>
                  <a:srgbClr val="000000"/>
                </a:solidFill>
                <a:latin typeface="Arimo Bold"/>
                <a:ea typeface="Arimo Bold"/>
                <a:cs typeface="Arimo Bold"/>
                <a:sym typeface="Arimo Bold"/>
              </a:rPr>
              <a:t>Car sales</a:t>
            </a:r>
          </a:p>
          <a:p>
            <a:pPr marL="518743" lvl="1" indent="-259372" algn="l">
              <a:lnSpc>
                <a:spcPts val="2402"/>
              </a:lnSpc>
              <a:buFont typeface="Arial"/>
              <a:buChar char="•"/>
            </a:pPr>
            <a:r>
              <a:rPr lang="en-US" sz="2402" spc="-84">
                <a:solidFill>
                  <a:srgbClr val="000000"/>
                </a:solidFill>
                <a:latin typeface="Arimo Bold"/>
                <a:ea typeface="Arimo Bold"/>
                <a:cs typeface="Arimo Bold"/>
                <a:sym typeface="Arimo Bold"/>
              </a:rPr>
              <a:t>R &amp; D Institutes</a:t>
            </a:r>
          </a:p>
          <a:p>
            <a:pPr marL="518743" lvl="1" indent="-259372" algn="l">
              <a:lnSpc>
                <a:spcPts val="2402"/>
              </a:lnSpc>
              <a:buFont typeface="Arial"/>
              <a:buChar char="•"/>
            </a:pPr>
            <a:r>
              <a:rPr lang="en-US" sz="2402" spc="-84">
                <a:solidFill>
                  <a:srgbClr val="000000"/>
                </a:solidFill>
                <a:latin typeface="Arimo Bold"/>
                <a:ea typeface="Arimo Bold"/>
                <a:cs typeface="Arimo Bold"/>
                <a:sym typeface="Arimo Bold"/>
              </a:rPr>
              <a:t>Government and Regulatory Bodies</a:t>
            </a:r>
          </a:p>
          <a:p>
            <a:pPr marL="424428" lvl="1" indent="-212214" algn="l">
              <a:lnSpc>
                <a:spcPts val="1965"/>
              </a:lnSpc>
              <a:buFont typeface="Arial"/>
              <a:buChar char="•"/>
            </a:pPr>
            <a:endParaRPr lang="en-US" sz="2402" spc="-84">
              <a:solidFill>
                <a:srgbClr val="000000"/>
              </a:solidFill>
              <a:latin typeface="Arimo Bold"/>
              <a:ea typeface="Arimo Bold"/>
              <a:cs typeface="Arimo Bold"/>
              <a:sym typeface="Arimo Bold"/>
            </a:endParaRPr>
          </a:p>
        </p:txBody>
      </p:sp>
      <p:sp>
        <p:nvSpPr>
          <p:cNvPr id="41" name="TextBox 41"/>
          <p:cNvSpPr txBox="1"/>
          <p:nvPr/>
        </p:nvSpPr>
        <p:spPr>
          <a:xfrm>
            <a:off x="3568186" y="1521719"/>
            <a:ext cx="3906995" cy="2765351"/>
          </a:xfrm>
          <a:prstGeom prst="rect">
            <a:avLst/>
          </a:prstGeom>
        </p:spPr>
        <p:txBody>
          <a:bodyPr lIns="0" tIns="0" rIns="0" bIns="0" rtlCol="0" anchor="t">
            <a:spAutoFit/>
          </a:bodyPr>
          <a:lstStyle/>
          <a:p>
            <a:pPr marL="490209" lvl="1" indent="-245105" algn="l">
              <a:lnSpc>
                <a:spcPts val="2724"/>
              </a:lnSpc>
              <a:buFont typeface="Arial"/>
              <a:buChar char="•"/>
            </a:pPr>
            <a:r>
              <a:rPr lang="en-US" sz="2270">
                <a:solidFill>
                  <a:srgbClr val="000000"/>
                </a:solidFill>
                <a:latin typeface="Arimo Bold"/>
                <a:ea typeface="Arimo Bold"/>
                <a:cs typeface="Arimo Bold"/>
                <a:sym typeface="Arimo Bold"/>
              </a:rPr>
              <a:t>Product Development</a:t>
            </a:r>
          </a:p>
          <a:p>
            <a:pPr marL="490209" lvl="1" indent="-245105" algn="l">
              <a:lnSpc>
                <a:spcPts val="2724"/>
              </a:lnSpc>
              <a:buFont typeface="Arial"/>
              <a:buChar char="•"/>
            </a:pPr>
            <a:r>
              <a:rPr lang="en-US" sz="2270">
                <a:solidFill>
                  <a:srgbClr val="000000"/>
                </a:solidFill>
                <a:latin typeface="Arimo Bold"/>
                <a:ea typeface="Arimo Bold"/>
                <a:cs typeface="Arimo Bold"/>
                <a:sym typeface="Arimo Bold"/>
              </a:rPr>
              <a:t>Build and maintain relationships </a:t>
            </a:r>
          </a:p>
          <a:p>
            <a:pPr marL="490209" lvl="1" indent="-245105" algn="l">
              <a:lnSpc>
                <a:spcPts val="2724"/>
              </a:lnSpc>
              <a:buFont typeface="Arial"/>
              <a:buChar char="•"/>
            </a:pPr>
            <a:r>
              <a:rPr lang="en-US" sz="2270">
                <a:solidFill>
                  <a:srgbClr val="000000"/>
                </a:solidFill>
                <a:latin typeface="Arimo Bold"/>
                <a:ea typeface="Arimo Bold"/>
                <a:cs typeface="Arimo Bold"/>
                <a:sym typeface="Arimo Bold"/>
              </a:rPr>
              <a:t>Provide expert installation services, user training, and ongoing after-sales support</a:t>
            </a:r>
          </a:p>
        </p:txBody>
      </p:sp>
      <p:sp>
        <p:nvSpPr>
          <p:cNvPr id="42" name="TextBox 42"/>
          <p:cNvSpPr txBox="1"/>
          <p:nvPr/>
        </p:nvSpPr>
        <p:spPr>
          <a:xfrm>
            <a:off x="7098404" y="2097953"/>
            <a:ext cx="3829711" cy="5041124"/>
          </a:xfrm>
          <a:prstGeom prst="rect">
            <a:avLst/>
          </a:prstGeom>
        </p:spPr>
        <p:txBody>
          <a:bodyPr lIns="0" tIns="0" rIns="0" bIns="0" rtlCol="0" anchor="t">
            <a:spAutoFit/>
          </a:bodyPr>
          <a:lstStyle/>
          <a:p>
            <a:pPr marL="518743" lvl="1" indent="-259372" algn="l">
              <a:lnSpc>
                <a:spcPts val="2498"/>
              </a:lnSpc>
              <a:buFont typeface="Arial"/>
              <a:buChar char="•"/>
            </a:pPr>
            <a:r>
              <a:rPr lang="en-US" sz="2402">
                <a:solidFill>
                  <a:srgbClr val="000000"/>
                </a:solidFill>
                <a:latin typeface="Arimo Bold"/>
                <a:ea typeface="Arimo Bold"/>
                <a:cs typeface="Arimo Bold"/>
                <a:sym typeface="Arimo Bold"/>
              </a:rPr>
              <a:t>Enhances safety by reducing the risk of accidents through real-time driver assistance.</a:t>
            </a:r>
          </a:p>
          <a:p>
            <a:pPr marL="518743" lvl="1" indent="-259372" algn="l">
              <a:lnSpc>
                <a:spcPts val="2498"/>
              </a:lnSpc>
              <a:buFont typeface="Arial"/>
              <a:buChar char="•"/>
            </a:pPr>
            <a:r>
              <a:rPr lang="en-US" sz="2402">
                <a:solidFill>
                  <a:srgbClr val="000000"/>
                </a:solidFill>
                <a:latin typeface="Arimo Bold"/>
                <a:ea typeface="Arimo Bold"/>
                <a:cs typeface="Arimo Bold"/>
                <a:sym typeface="Arimo Bold"/>
              </a:rPr>
              <a:t>improves driver comfort by assisting with challenging tasks such as  highway driving.</a:t>
            </a:r>
          </a:p>
          <a:p>
            <a:pPr marL="518743" lvl="1" indent="-259372" algn="l">
              <a:lnSpc>
                <a:spcPts val="2498"/>
              </a:lnSpc>
              <a:buFont typeface="Arial"/>
              <a:buChar char="•"/>
            </a:pPr>
            <a:r>
              <a:rPr lang="en-US" sz="2402">
                <a:solidFill>
                  <a:srgbClr val="000000"/>
                </a:solidFill>
                <a:latin typeface="Arimo Bold"/>
                <a:ea typeface="Arimo Bold"/>
                <a:cs typeface="Arimo Bold"/>
                <a:sym typeface="Arimo Bold"/>
              </a:rPr>
              <a:t>Supports drivers in meeting legal requirements for safety features in vehicles.</a:t>
            </a:r>
          </a:p>
          <a:p>
            <a:pPr algn="l">
              <a:lnSpc>
                <a:spcPts val="2883"/>
              </a:lnSpc>
            </a:pPr>
            <a:r>
              <a:rPr lang="en-US" sz="2402">
                <a:solidFill>
                  <a:srgbClr val="000000"/>
                </a:solidFill>
                <a:latin typeface="Arimo Bold"/>
                <a:ea typeface="Arimo Bold"/>
                <a:cs typeface="Arimo Bold"/>
                <a:sym typeface="Arimo Bold"/>
              </a:rPr>
              <a:t> </a:t>
            </a:r>
          </a:p>
        </p:txBody>
      </p:sp>
      <p:sp>
        <p:nvSpPr>
          <p:cNvPr id="43" name="TextBox 43"/>
          <p:cNvSpPr txBox="1"/>
          <p:nvPr/>
        </p:nvSpPr>
        <p:spPr>
          <a:xfrm>
            <a:off x="14361348" y="2097527"/>
            <a:ext cx="3824115" cy="5008550"/>
          </a:xfrm>
          <a:prstGeom prst="rect">
            <a:avLst/>
          </a:prstGeom>
        </p:spPr>
        <p:txBody>
          <a:bodyPr lIns="0" tIns="0" rIns="0" bIns="0" rtlCol="0" anchor="t">
            <a:spAutoFit/>
          </a:bodyPr>
          <a:lstStyle/>
          <a:p>
            <a:pPr marL="530484" lvl="1" indent="-265242" algn="l">
              <a:lnSpc>
                <a:spcPts val="2678"/>
              </a:lnSpc>
              <a:buFont typeface="Arial"/>
              <a:buChar char="•"/>
            </a:pPr>
            <a:r>
              <a:rPr lang="en-US" sz="2457" spc="41">
                <a:solidFill>
                  <a:srgbClr val="000000"/>
                </a:solidFill>
                <a:latin typeface="Arimo Bold"/>
                <a:ea typeface="Arimo Bold"/>
                <a:cs typeface="Arimo Bold"/>
                <a:sym typeface="Arimo Bold"/>
              </a:rPr>
              <a:t>We will build long-term partnerships with automotive manufacturers and fleet operators.</a:t>
            </a:r>
          </a:p>
          <a:p>
            <a:pPr marL="530484" lvl="1" indent="-265242" algn="l">
              <a:lnSpc>
                <a:spcPts val="2678"/>
              </a:lnSpc>
              <a:buFont typeface="Arial"/>
              <a:buChar char="•"/>
            </a:pPr>
            <a:r>
              <a:rPr lang="en-US" sz="2457" spc="41">
                <a:solidFill>
                  <a:srgbClr val="000000"/>
                </a:solidFill>
                <a:latin typeface="Arimo Bold"/>
                <a:ea typeface="Arimo Bold"/>
                <a:cs typeface="Arimo Bold"/>
                <a:sym typeface="Arimo Bold"/>
              </a:rPr>
              <a:t>Our customer support will provide installation, training, and after-sales service.</a:t>
            </a:r>
          </a:p>
          <a:p>
            <a:pPr marL="530484" lvl="1" indent="-265242" algn="l">
              <a:lnSpc>
                <a:spcPts val="2678"/>
              </a:lnSpc>
              <a:buFont typeface="Arial"/>
              <a:buChar char="•"/>
            </a:pPr>
            <a:r>
              <a:rPr lang="en-US" sz="2457" spc="41">
                <a:solidFill>
                  <a:srgbClr val="000000"/>
                </a:solidFill>
                <a:latin typeface="Arimo Bold"/>
                <a:ea typeface="Arimo Bold"/>
                <a:cs typeface="Arimo Bold"/>
                <a:sym typeface="Arimo Bold"/>
              </a:rPr>
              <a:t>We will engage with users through online communities and feedback channels.</a:t>
            </a:r>
          </a:p>
          <a:p>
            <a:pPr algn="l">
              <a:lnSpc>
                <a:spcPts val="2678"/>
              </a:lnSpc>
            </a:pPr>
            <a:endParaRPr lang="en-US" sz="2457" spc="41">
              <a:solidFill>
                <a:srgbClr val="000000"/>
              </a:solidFill>
              <a:latin typeface="Arimo Bold"/>
              <a:ea typeface="Arimo Bold"/>
              <a:cs typeface="Arimo Bold"/>
              <a:sym typeface="Arimo Bold"/>
            </a:endParaRPr>
          </a:p>
        </p:txBody>
      </p:sp>
      <p:sp>
        <p:nvSpPr>
          <p:cNvPr id="44" name="TextBox 44"/>
          <p:cNvSpPr txBox="1"/>
          <p:nvPr/>
        </p:nvSpPr>
        <p:spPr>
          <a:xfrm>
            <a:off x="3831752" y="5246137"/>
            <a:ext cx="2912961" cy="1304925"/>
          </a:xfrm>
          <a:prstGeom prst="rect">
            <a:avLst/>
          </a:prstGeom>
        </p:spPr>
        <p:txBody>
          <a:bodyPr lIns="0" tIns="0" rIns="0" bIns="0" rtlCol="0" anchor="t">
            <a:spAutoFit/>
          </a:bodyPr>
          <a:lstStyle/>
          <a:p>
            <a:pPr algn="l">
              <a:lnSpc>
                <a:spcPts val="2839"/>
              </a:lnSpc>
            </a:pPr>
            <a:r>
              <a:rPr lang="en-US" sz="2365">
                <a:solidFill>
                  <a:srgbClr val="000000"/>
                </a:solidFill>
                <a:latin typeface="Arimo Bold"/>
                <a:ea typeface="Arimo Bold"/>
                <a:cs typeface="Arimo Bold"/>
                <a:sym typeface="Arimo Bold"/>
              </a:rPr>
              <a:t>Advanced Hardware Components.</a:t>
            </a:r>
          </a:p>
          <a:p>
            <a:pPr algn="l">
              <a:lnSpc>
                <a:spcPts val="2359"/>
              </a:lnSpc>
            </a:pPr>
            <a:endParaRPr lang="en-US" sz="2365">
              <a:solidFill>
                <a:srgbClr val="000000"/>
              </a:solidFill>
              <a:latin typeface="Arimo Bold"/>
              <a:ea typeface="Arimo Bold"/>
              <a:cs typeface="Arimo Bold"/>
              <a:sym typeface="Arimo Bold"/>
            </a:endParaRPr>
          </a:p>
          <a:p>
            <a:pPr algn="l">
              <a:lnSpc>
                <a:spcPts val="2359"/>
              </a:lnSpc>
            </a:pPr>
            <a:endParaRPr lang="en-US" sz="2365">
              <a:solidFill>
                <a:srgbClr val="000000"/>
              </a:solidFill>
              <a:latin typeface="Arimo Bold"/>
              <a:ea typeface="Arimo Bold"/>
              <a:cs typeface="Arimo Bold"/>
              <a:sym typeface="Arimo Bold"/>
            </a:endParaRPr>
          </a:p>
        </p:txBody>
      </p:sp>
      <p:sp>
        <p:nvSpPr>
          <p:cNvPr id="45" name="TextBox 45"/>
          <p:cNvSpPr txBox="1"/>
          <p:nvPr/>
        </p:nvSpPr>
        <p:spPr>
          <a:xfrm>
            <a:off x="11049957" y="4532410"/>
            <a:ext cx="3207365" cy="1829990"/>
          </a:xfrm>
          <a:prstGeom prst="rect">
            <a:avLst/>
          </a:prstGeom>
        </p:spPr>
        <p:txBody>
          <a:bodyPr lIns="0" tIns="0" rIns="0" bIns="0" rtlCol="0" anchor="t">
            <a:spAutoFit/>
          </a:bodyPr>
          <a:lstStyle/>
          <a:p>
            <a:pPr marL="518743" lvl="1" indent="-259372" algn="l">
              <a:lnSpc>
                <a:spcPts val="2883"/>
              </a:lnSpc>
              <a:buFont typeface="Arial"/>
              <a:buChar char="•"/>
            </a:pPr>
            <a:r>
              <a:rPr lang="en-US" sz="2402">
                <a:solidFill>
                  <a:srgbClr val="000000"/>
                </a:solidFill>
                <a:latin typeface="Arimo Bold"/>
                <a:ea typeface="Arimo Bold"/>
                <a:cs typeface="Arimo Bold"/>
                <a:sym typeface="Arimo Bold"/>
              </a:rPr>
              <a:t>Direct Sales</a:t>
            </a:r>
          </a:p>
          <a:p>
            <a:pPr marL="518743" lvl="1" indent="-259372" algn="l">
              <a:lnSpc>
                <a:spcPts val="2883"/>
              </a:lnSpc>
              <a:buFont typeface="Arial"/>
              <a:buChar char="•"/>
            </a:pPr>
            <a:r>
              <a:rPr lang="en-US" sz="2402">
                <a:solidFill>
                  <a:srgbClr val="000000"/>
                </a:solidFill>
                <a:latin typeface="Arimo Bold"/>
                <a:ea typeface="Arimo Bold"/>
                <a:cs typeface="Arimo Bold"/>
                <a:sym typeface="Arimo Bold"/>
              </a:rPr>
              <a:t>Exhibitions &amp; Trade Shows</a:t>
            </a:r>
          </a:p>
          <a:p>
            <a:pPr marL="518743" lvl="1" indent="-259372" algn="l">
              <a:lnSpc>
                <a:spcPts val="2883"/>
              </a:lnSpc>
              <a:buFont typeface="Arial"/>
              <a:buChar char="•"/>
            </a:pPr>
            <a:r>
              <a:rPr lang="en-US" sz="2402">
                <a:solidFill>
                  <a:srgbClr val="000000"/>
                </a:solidFill>
                <a:latin typeface="Arimo Bold"/>
                <a:ea typeface="Arimo Bold"/>
                <a:cs typeface="Arimo Bold"/>
                <a:sym typeface="Arimo Bold"/>
              </a:rPr>
              <a:t>Social Media &amp; Digital Marketing</a:t>
            </a:r>
          </a:p>
        </p:txBody>
      </p:sp>
      <p:sp>
        <p:nvSpPr>
          <p:cNvPr id="46" name="Freeform 46" descr="Link with solid fill"/>
          <p:cNvSpPr/>
          <p:nvPr/>
        </p:nvSpPr>
        <p:spPr>
          <a:xfrm>
            <a:off x="3108050" y="989069"/>
            <a:ext cx="635291" cy="635291"/>
          </a:xfrm>
          <a:custGeom>
            <a:avLst/>
            <a:gdLst/>
            <a:ahLst/>
            <a:cxnLst/>
            <a:rect l="l" t="t" r="r" b="b"/>
            <a:pathLst>
              <a:path w="635291" h="635291">
                <a:moveTo>
                  <a:pt x="0" y="0"/>
                </a:moveTo>
                <a:lnTo>
                  <a:pt x="635291" y="0"/>
                </a:lnTo>
                <a:lnTo>
                  <a:pt x="635291" y="635291"/>
                </a:lnTo>
                <a:lnTo>
                  <a:pt x="0" y="6352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Freeform 47" descr="Checkbox Checked with solid fill"/>
          <p:cNvSpPr/>
          <p:nvPr/>
        </p:nvSpPr>
        <p:spPr>
          <a:xfrm>
            <a:off x="6693608" y="878090"/>
            <a:ext cx="698821" cy="698821"/>
          </a:xfrm>
          <a:custGeom>
            <a:avLst/>
            <a:gdLst/>
            <a:ahLst/>
            <a:cxnLst/>
            <a:rect l="l" t="t" r="r" b="b"/>
            <a:pathLst>
              <a:path w="698821" h="698821">
                <a:moveTo>
                  <a:pt x="0" y="0"/>
                </a:moveTo>
                <a:lnTo>
                  <a:pt x="698821" y="0"/>
                </a:lnTo>
                <a:lnTo>
                  <a:pt x="698821" y="698821"/>
                </a:lnTo>
                <a:lnTo>
                  <a:pt x="0" y="698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8" name="Freeform 48" descr="Present with solid fill"/>
          <p:cNvSpPr/>
          <p:nvPr/>
        </p:nvSpPr>
        <p:spPr>
          <a:xfrm>
            <a:off x="10403080" y="963484"/>
            <a:ext cx="525034" cy="525034"/>
          </a:xfrm>
          <a:custGeom>
            <a:avLst/>
            <a:gdLst/>
            <a:ahLst/>
            <a:cxnLst/>
            <a:rect l="l" t="t" r="r" b="b"/>
            <a:pathLst>
              <a:path w="525034" h="525034">
                <a:moveTo>
                  <a:pt x="0" y="0"/>
                </a:moveTo>
                <a:lnTo>
                  <a:pt x="525035" y="0"/>
                </a:lnTo>
                <a:lnTo>
                  <a:pt x="525035" y="525034"/>
                </a:lnTo>
                <a:lnTo>
                  <a:pt x="0" y="5250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9" name="Freeform 49" descr="Heart with solid fill"/>
          <p:cNvSpPr/>
          <p:nvPr/>
        </p:nvSpPr>
        <p:spPr>
          <a:xfrm>
            <a:off x="17530940" y="1054077"/>
            <a:ext cx="525034" cy="525034"/>
          </a:xfrm>
          <a:custGeom>
            <a:avLst/>
            <a:gdLst/>
            <a:ahLst/>
            <a:cxnLst/>
            <a:rect l="l" t="t" r="r" b="b"/>
            <a:pathLst>
              <a:path w="525034" h="525034">
                <a:moveTo>
                  <a:pt x="0" y="0"/>
                </a:moveTo>
                <a:lnTo>
                  <a:pt x="525035" y="0"/>
                </a:lnTo>
                <a:lnTo>
                  <a:pt x="525035" y="525034"/>
                </a:lnTo>
                <a:lnTo>
                  <a:pt x="0" y="5250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0" name="Freeform 50" descr="Truck with solid fill"/>
          <p:cNvSpPr/>
          <p:nvPr/>
        </p:nvSpPr>
        <p:spPr>
          <a:xfrm>
            <a:off x="13958485" y="4016901"/>
            <a:ext cx="525034" cy="525034"/>
          </a:xfrm>
          <a:custGeom>
            <a:avLst/>
            <a:gdLst/>
            <a:ahLst/>
            <a:cxnLst/>
            <a:rect l="l" t="t" r="r" b="b"/>
            <a:pathLst>
              <a:path w="525034" h="525034">
                <a:moveTo>
                  <a:pt x="0" y="0"/>
                </a:moveTo>
                <a:lnTo>
                  <a:pt x="525034" y="0"/>
                </a:lnTo>
                <a:lnTo>
                  <a:pt x="525034" y="525034"/>
                </a:lnTo>
                <a:lnTo>
                  <a:pt x="0" y="5250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51" name="Freeform 51" descr="Target Audience with solid fill"/>
          <p:cNvSpPr/>
          <p:nvPr/>
        </p:nvSpPr>
        <p:spPr>
          <a:xfrm>
            <a:off x="13848228" y="989069"/>
            <a:ext cx="635291" cy="635291"/>
          </a:xfrm>
          <a:custGeom>
            <a:avLst/>
            <a:gdLst/>
            <a:ahLst/>
            <a:cxnLst/>
            <a:rect l="l" t="t" r="r" b="b"/>
            <a:pathLst>
              <a:path w="635291" h="635291">
                <a:moveTo>
                  <a:pt x="0" y="0"/>
                </a:moveTo>
                <a:lnTo>
                  <a:pt x="635291" y="0"/>
                </a:lnTo>
                <a:lnTo>
                  <a:pt x="635291" y="635291"/>
                </a:lnTo>
                <a:lnTo>
                  <a:pt x="0" y="63529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52" name="Group 52"/>
          <p:cNvGrpSpPr/>
          <p:nvPr/>
        </p:nvGrpSpPr>
        <p:grpSpPr>
          <a:xfrm>
            <a:off x="98385" y="6860733"/>
            <a:ext cx="9056797" cy="2688747"/>
            <a:chOff x="0" y="0"/>
            <a:chExt cx="11056920" cy="3282536"/>
          </a:xfrm>
        </p:grpSpPr>
        <p:sp>
          <p:nvSpPr>
            <p:cNvPr id="53" name="Freeform 53"/>
            <p:cNvSpPr/>
            <p:nvPr/>
          </p:nvSpPr>
          <p:spPr>
            <a:xfrm>
              <a:off x="38100" y="38100"/>
              <a:ext cx="10980674" cy="3206369"/>
            </a:xfrm>
            <a:custGeom>
              <a:avLst/>
              <a:gdLst/>
              <a:ahLst/>
              <a:cxnLst/>
              <a:rect l="l" t="t" r="r" b="b"/>
              <a:pathLst>
                <a:path w="10980674" h="3206369">
                  <a:moveTo>
                    <a:pt x="0" y="0"/>
                  </a:moveTo>
                  <a:lnTo>
                    <a:pt x="10980674" y="0"/>
                  </a:lnTo>
                  <a:lnTo>
                    <a:pt x="10980674" y="3206369"/>
                  </a:lnTo>
                  <a:lnTo>
                    <a:pt x="0" y="3206369"/>
                  </a:lnTo>
                  <a:close/>
                </a:path>
              </a:pathLst>
            </a:custGeom>
            <a:solidFill>
              <a:srgbClr val="52681A">
                <a:alpha val="81961"/>
              </a:srgbClr>
            </a:solidFill>
          </p:spPr>
        </p:sp>
        <p:sp>
          <p:nvSpPr>
            <p:cNvPr id="54" name="Freeform 54"/>
            <p:cNvSpPr/>
            <p:nvPr/>
          </p:nvSpPr>
          <p:spPr>
            <a:xfrm>
              <a:off x="0" y="0"/>
              <a:ext cx="11056874" cy="3282569"/>
            </a:xfrm>
            <a:custGeom>
              <a:avLst/>
              <a:gdLst/>
              <a:ahLst/>
              <a:cxnLst/>
              <a:rect l="l" t="t" r="r" b="b"/>
              <a:pathLst>
                <a:path w="11056874" h="3282569">
                  <a:moveTo>
                    <a:pt x="38100" y="0"/>
                  </a:moveTo>
                  <a:lnTo>
                    <a:pt x="11018774" y="0"/>
                  </a:lnTo>
                  <a:cubicBezTo>
                    <a:pt x="11039856" y="0"/>
                    <a:pt x="11056874" y="17018"/>
                    <a:pt x="11056874" y="38100"/>
                  </a:cubicBezTo>
                  <a:lnTo>
                    <a:pt x="11056874" y="3244469"/>
                  </a:lnTo>
                  <a:cubicBezTo>
                    <a:pt x="11056874" y="3265551"/>
                    <a:pt x="11039856" y="3282569"/>
                    <a:pt x="11018774" y="3282569"/>
                  </a:cubicBezTo>
                  <a:lnTo>
                    <a:pt x="38100" y="3282569"/>
                  </a:lnTo>
                  <a:cubicBezTo>
                    <a:pt x="17018" y="3282569"/>
                    <a:pt x="0" y="3265551"/>
                    <a:pt x="0" y="3244469"/>
                  </a:cubicBezTo>
                  <a:lnTo>
                    <a:pt x="0" y="38100"/>
                  </a:lnTo>
                  <a:cubicBezTo>
                    <a:pt x="0" y="17018"/>
                    <a:pt x="17018" y="0"/>
                    <a:pt x="38100" y="0"/>
                  </a:cubicBezTo>
                  <a:moveTo>
                    <a:pt x="38100" y="76200"/>
                  </a:moveTo>
                  <a:lnTo>
                    <a:pt x="38100" y="38100"/>
                  </a:lnTo>
                  <a:lnTo>
                    <a:pt x="76200" y="38100"/>
                  </a:lnTo>
                  <a:lnTo>
                    <a:pt x="76200" y="3244469"/>
                  </a:lnTo>
                  <a:lnTo>
                    <a:pt x="38100" y="3244469"/>
                  </a:lnTo>
                  <a:lnTo>
                    <a:pt x="38100" y="3206369"/>
                  </a:lnTo>
                  <a:lnTo>
                    <a:pt x="11018774" y="3206369"/>
                  </a:lnTo>
                  <a:lnTo>
                    <a:pt x="11018774" y="3244469"/>
                  </a:lnTo>
                  <a:lnTo>
                    <a:pt x="10980674" y="3244469"/>
                  </a:lnTo>
                  <a:lnTo>
                    <a:pt x="10980674" y="38100"/>
                  </a:lnTo>
                  <a:lnTo>
                    <a:pt x="11018774" y="38100"/>
                  </a:lnTo>
                  <a:lnTo>
                    <a:pt x="11018774" y="76200"/>
                  </a:lnTo>
                  <a:lnTo>
                    <a:pt x="38100" y="76200"/>
                  </a:lnTo>
                  <a:close/>
                </a:path>
              </a:pathLst>
            </a:custGeom>
            <a:solidFill>
              <a:srgbClr val="7A9C27">
                <a:alpha val="81961"/>
              </a:srgbClr>
            </a:solidFill>
          </p:spPr>
        </p:sp>
      </p:grpSp>
      <p:sp>
        <p:nvSpPr>
          <p:cNvPr id="55" name="TextBox 55"/>
          <p:cNvSpPr txBox="1"/>
          <p:nvPr/>
        </p:nvSpPr>
        <p:spPr>
          <a:xfrm>
            <a:off x="229459" y="6913298"/>
            <a:ext cx="3243684" cy="569513"/>
          </a:xfrm>
          <a:prstGeom prst="rect">
            <a:avLst/>
          </a:prstGeom>
        </p:spPr>
        <p:txBody>
          <a:bodyPr lIns="0" tIns="0" rIns="0" bIns="0" rtlCol="0" anchor="t">
            <a:spAutoFit/>
          </a:bodyPr>
          <a:lstStyle/>
          <a:p>
            <a:pPr algn="l">
              <a:lnSpc>
                <a:spcPts val="4324"/>
              </a:lnSpc>
            </a:pPr>
            <a:r>
              <a:rPr lang="en-US" sz="3604">
                <a:solidFill>
                  <a:srgbClr val="FFFFFF"/>
                </a:solidFill>
                <a:latin typeface="Arimo Bold"/>
                <a:ea typeface="Arimo Bold"/>
                <a:cs typeface="Arimo Bold"/>
                <a:sym typeface="Arimo Bold"/>
              </a:rPr>
              <a:t>Cost Structure </a:t>
            </a:r>
          </a:p>
        </p:txBody>
      </p:sp>
      <p:sp>
        <p:nvSpPr>
          <p:cNvPr id="56" name="Freeform 56" descr="Tag with solid fill"/>
          <p:cNvSpPr/>
          <p:nvPr/>
        </p:nvSpPr>
        <p:spPr>
          <a:xfrm>
            <a:off x="8478363" y="6922638"/>
            <a:ext cx="635291" cy="635291"/>
          </a:xfrm>
          <a:custGeom>
            <a:avLst/>
            <a:gdLst/>
            <a:ahLst/>
            <a:cxnLst/>
            <a:rect l="l" t="t" r="r" b="b"/>
            <a:pathLst>
              <a:path w="635291" h="635291">
                <a:moveTo>
                  <a:pt x="0" y="0"/>
                </a:moveTo>
                <a:lnTo>
                  <a:pt x="635291" y="0"/>
                </a:lnTo>
                <a:lnTo>
                  <a:pt x="635291" y="635291"/>
                </a:lnTo>
                <a:lnTo>
                  <a:pt x="0" y="63529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57" name="Group 57"/>
          <p:cNvGrpSpPr/>
          <p:nvPr/>
        </p:nvGrpSpPr>
        <p:grpSpPr>
          <a:xfrm>
            <a:off x="9151330" y="6860733"/>
            <a:ext cx="8998175" cy="2688747"/>
            <a:chOff x="0" y="0"/>
            <a:chExt cx="10985351" cy="3282536"/>
          </a:xfrm>
        </p:grpSpPr>
        <p:sp>
          <p:nvSpPr>
            <p:cNvPr id="58" name="Freeform 58"/>
            <p:cNvSpPr/>
            <p:nvPr/>
          </p:nvSpPr>
          <p:spPr>
            <a:xfrm>
              <a:off x="38100" y="38100"/>
              <a:ext cx="10909681" cy="3206369"/>
            </a:xfrm>
            <a:custGeom>
              <a:avLst/>
              <a:gdLst/>
              <a:ahLst/>
              <a:cxnLst/>
              <a:rect l="l" t="t" r="r" b="b"/>
              <a:pathLst>
                <a:path w="10909681" h="3206369">
                  <a:moveTo>
                    <a:pt x="0" y="0"/>
                  </a:moveTo>
                  <a:lnTo>
                    <a:pt x="10909681" y="0"/>
                  </a:lnTo>
                  <a:lnTo>
                    <a:pt x="10909681" y="3206369"/>
                  </a:lnTo>
                  <a:lnTo>
                    <a:pt x="0" y="3206369"/>
                  </a:lnTo>
                  <a:close/>
                </a:path>
              </a:pathLst>
            </a:custGeom>
            <a:solidFill>
              <a:srgbClr val="0084B4"/>
            </a:solidFill>
          </p:spPr>
        </p:sp>
        <p:sp>
          <p:nvSpPr>
            <p:cNvPr id="59" name="Freeform 59"/>
            <p:cNvSpPr/>
            <p:nvPr/>
          </p:nvSpPr>
          <p:spPr>
            <a:xfrm>
              <a:off x="0" y="0"/>
              <a:ext cx="10985881" cy="3282569"/>
            </a:xfrm>
            <a:custGeom>
              <a:avLst/>
              <a:gdLst/>
              <a:ahLst/>
              <a:cxnLst/>
              <a:rect l="l" t="t" r="r" b="b"/>
              <a:pathLst>
                <a:path w="10985881" h="3282569">
                  <a:moveTo>
                    <a:pt x="38100" y="0"/>
                  </a:moveTo>
                  <a:lnTo>
                    <a:pt x="10947781" y="0"/>
                  </a:lnTo>
                  <a:cubicBezTo>
                    <a:pt x="10968863" y="0"/>
                    <a:pt x="10985881" y="17018"/>
                    <a:pt x="10985881" y="38100"/>
                  </a:cubicBezTo>
                  <a:lnTo>
                    <a:pt x="10985881" y="3244469"/>
                  </a:lnTo>
                  <a:cubicBezTo>
                    <a:pt x="10985881" y="3265551"/>
                    <a:pt x="10968863" y="3282569"/>
                    <a:pt x="10947781" y="3282569"/>
                  </a:cubicBezTo>
                  <a:lnTo>
                    <a:pt x="38100" y="3282569"/>
                  </a:lnTo>
                  <a:cubicBezTo>
                    <a:pt x="17018" y="3282569"/>
                    <a:pt x="0" y="3265551"/>
                    <a:pt x="0" y="3244469"/>
                  </a:cubicBezTo>
                  <a:lnTo>
                    <a:pt x="0" y="38100"/>
                  </a:lnTo>
                  <a:cubicBezTo>
                    <a:pt x="0" y="17018"/>
                    <a:pt x="17018" y="0"/>
                    <a:pt x="38100" y="0"/>
                  </a:cubicBezTo>
                  <a:moveTo>
                    <a:pt x="38100" y="76200"/>
                  </a:moveTo>
                  <a:lnTo>
                    <a:pt x="38100" y="38100"/>
                  </a:lnTo>
                  <a:lnTo>
                    <a:pt x="76200" y="38100"/>
                  </a:lnTo>
                  <a:lnTo>
                    <a:pt x="76200" y="3244469"/>
                  </a:lnTo>
                  <a:lnTo>
                    <a:pt x="38100" y="3244469"/>
                  </a:lnTo>
                  <a:lnTo>
                    <a:pt x="38100" y="3206369"/>
                  </a:lnTo>
                  <a:lnTo>
                    <a:pt x="10947781" y="3206369"/>
                  </a:lnTo>
                  <a:lnTo>
                    <a:pt x="10947781" y="3244469"/>
                  </a:lnTo>
                  <a:lnTo>
                    <a:pt x="10909681" y="3244469"/>
                  </a:lnTo>
                  <a:lnTo>
                    <a:pt x="10909681" y="38100"/>
                  </a:lnTo>
                  <a:lnTo>
                    <a:pt x="10947781" y="38100"/>
                  </a:lnTo>
                  <a:lnTo>
                    <a:pt x="10947781" y="76200"/>
                  </a:lnTo>
                  <a:lnTo>
                    <a:pt x="38100" y="76200"/>
                  </a:lnTo>
                  <a:close/>
                </a:path>
              </a:pathLst>
            </a:custGeom>
            <a:solidFill>
              <a:srgbClr val="005878"/>
            </a:solidFill>
          </p:spPr>
        </p:sp>
      </p:grpSp>
      <p:sp>
        <p:nvSpPr>
          <p:cNvPr id="60" name="TextBox 60"/>
          <p:cNvSpPr txBox="1"/>
          <p:nvPr/>
        </p:nvSpPr>
        <p:spPr>
          <a:xfrm>
            <a:off x="9282202" y="6922823"/>
            <a:ext cx="3833461" cy="549585"/>
          </a:xfrm>
          <a:prstGeom prst="rect">
            <a:avLst/>
          </a:prstGeom>
        </p:spPr>
        <p:txBody>
          <a:bodyPr lIns="0" tIns="0" rIns="0" bIns="0" rtlCol="0" anchor="t">
            <a:spAutoFit/>
          </a:bodyPr>
          <a:lstStyle/>
          <a:p>
            <a:pPr algn="l">
              <a:lnSpc>
                <a:spcPts val="4193"/>
              </a:lnSpc>
            </a:pPr>
            <a:r>
              <a:rPr lang="en-US" sz="3494">
                <a:solidFill>
                  <a:srgbClr val="FFFFFF"/>
                </a:solidFill>
                <a:latin typeface="Arimo Bold"/>
                <a:ea typeface="Arimo Bold"/>
                <a:cs typeface="Arimo Bold"/>
                <a:sym typeface="Arimo Bold"/>
              </a:rPr>
              <a:t>Revenue Streams</a:t>
            </a:r>
          </a:p>
        </p:txBody>
      </p:sp>
      <p:sp>
        <p:nvSpPr>
          <p:cNvPr id="61" name="Freeform 61" descr="Money with solid fill"/>
          <p:cNvSpPr/>
          <p:nvPr/>
        </p:nvSpPr>
        <p:spPr>
          <a:xfrm>
            <a:off x="17509762" y="6961873"/>
            <a:ext cx="631179" cy="635291"/>
          </a:xfrm>
          <a:custGeom>
            <a:avLst/>
            <a:gdLst/>
            <a:ahLst/>
            <a:cxnLst/>
            <a:rect l="l" t="t" r="r" b="b"/>
            <a:pathLst>
              <a:path w="631179" h="635291">
                <a:moveTo>
                  <a:pt x="0" y="0"/>
                </a:moveTo>
                <a:lnTo>
                  <a:pt x="631179" y="0"/>
                </a:lnTo>
                <a:lnTo>
                  <a:pt x="631179" y="635291"/>
                </a:lnTo>
                <a:lnTo>
                  <a:pt x="0" y="635291"/>
                </a:lnTo>
                <a:lnTo>
                  <a:pt x="0" y="0"/>
                </a:lnTo>
                <a:close/>
              </a:path>
            </a:pathLst>
          </a:custGeom>
          <a:blipFill>
            <a:blip r:embed="rId16">
              <a:extLst>
                <a:ext uri="{96DAC541-7B7A-43D3-8B79-37D633B846F1}">
                  <asvg:svgBlip xmlns:asvg="http://schemas.microsoft.com/office/drawing/2016/SVG/main" r:embed="rId17"/>
                </a:ext>
              </a:extLst>
            </a:blip>
            <a:stretch>
              <a:fillRect l="-325" r="-325"/>
            </a:stretch>
          </a:blipFill>
        </p:spPr>
      </p:sp>
      <p:sp>
        <p:nvSpPr>
          <p:cNvPr id="62" name="Freeform 62" descr="Factory with solid fill"/>
          <p:cNvSpPr/>
          <p:nvPr/>
        </p:nvSpPr>
        <p:spPr>
          <a:xfrm>
            <a:off x="6886144" y="4279418"/>
            <a:ext cx="385001" cy="385001"/>
          </a:xfrm>
          <a:custGeom>
            <a:avLst/>
            <a:gdLst/>
            <a:ahLst/>
            <a:cxnLst/>
            <a:rect l="l" t="t" r="r" b="b"/>
            <a:pathLst>
              <a:path w="385001" h="385001">
                <a:moveTo>
                  <a:pt x="0" y="0"/>
                </a:moveTo>
                <a:lnTo>
                  <a:pt x="385001" y="0"/>
                </a:lnTo>
                <a:lnTo>
                  <a:pt x="385001" y="385001"/>
                </a:lnTo>
                <a:lnTo>
                  <a:pt x="0" y="3850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63" name="TextBox 63"/>
          <p:cNvSpPr txBox="1"/>
          <p:nvPr/>
        </p:nvSpPr>
        <p:spPr>
          <a:xfrm>
            <a:off x="394037" y="7365868"/>
            <a:ext cx="6063318" cy="2078776"/>
          </a:xfrm>
          <a:prstGeom prst="rect">
            <a:avLst/>
          </a:prstGeom>
        </p:spPr>
        <p:txBody>
          <a:bodyPr lIns="0" tIns="0" rIns="0" bIns="0" rtlCol="0" anchor="t">
            <a:spAutoFit/>
          </a:bodyPr>
          <a:lstStyle/>
          <a:p>
            <a:pPr marL="495168" lvl="1" indent="-247584" algn="l">
              <a:lnSpc>
                <a:spcPts val="2752"/>
              </a:lnSpc>
              <a:buFont typeface="Arial"/>
              <a:buChar char="•"/>
            </a:pPr>
            <a:r>
              <a:rPr lang="en-US" sz="2293">
                <a:solidFill>
                  <a:srgbClr val="000000"/>
                </a:solidFill>
                <a:latin typeface="Arimo Bold"/>
                <a:ea typeface="Arimo Bold"/>
                <a:cs typeface="Arimo Bold"/>
                <a:sym typeface="Arimo Bold"/>
              </a:rPr>
              <a:t>Research and Development (R&amp;D) costs</a:t>
            </a:r>
          </a:p>
          <a:p>
            <a:pPr marL="495168" lvl="1" indent="-247584" algn="l">
              <a:lnSpc>
                <a:spcPts val="2752"/>
              </a:lnSpc>
              <a:buFont typeface="Arial"/>
              <a:buChar char="•"/>
            </a:pPr>
            <a:r>
              <a:rPr lang="en-US" sz="2293">
                <a:solidFill>
                  <a:srgbClr val="000000"/>
                </a:solidFill>
                <a:latin typeface="Arimo Bold"/>
                <a:ea typeface="Arimo Bold"/>
                <a:cs typeface="Arimo Bold"/>
                <a:sym typeface="Arimo Bold"/>
              </a:rPr>
              <a:t>Hardware and sensor components</a:t>
            </a:r>
          </a:p>
          <a:p>
            <a:pPr marL="495168" lvl="1" indent="-247584" algn="l">
              <a:lnSpc>
                <a:spcPts val="2752"/>
              </a:lnSpc>
              <a:buFont typeface="Arial"/>
              <a:buChar char="•"/>
            </a:pPr>
            <a:r>
              <a:rPr lang="en-US" sz="2293">
                <a:solidFill>
                  <a:srgbClr val="000000"/>
                </a:solidFill>
                <a:latin typeface="Arimo Bold"/>
                <a:ea typeface="Arimo Bold"/>
                <a:cs typeface="Arimo Bold"/>
                <a:sym typeface="Arimo Bold"/>
              </a:rPr>
              <a:t>Software development and licensing</a:t>
            </a:r>
          </a:p>
          <a:p>
            <a:pPr marL="495168" lvl="1" indent="-247584" algn="l">
              <a:lnSpc>
                <a:spcPts val="2752"/>
              </a:lnSpc>
              <a:buFont typeface="Arial"/>
              <a:buChar char="•"/>
            </a:pPr>
            <a:r>
              <a:rPr lang="en-US" sz="2293">
                <a:solidFill>
                  <a:srgbClr val="000000"/>
                </a:solidFill>
                <a:latin typeface="Arimo Bold"/>
                <a:ea typeface="Arimo Bold"/>
                <a:cs typeface="Arimo Bold"/>
                <a:sym typeface="Arimo Bold"/>
              </a:rPr>
              <a:t>Marketing and sales expenses</a:t>
            </a:r>
          </a:p>
          <a:p>
            <a:pPr marL="495168" lvl="1" indent="-247584" algn="l">
              <a:lnSpc>
                <a:spcPts val="2752"/>
              </a:lnSpc>
              <a:buFont typeface="Arial"/>
              <a:buChar char="•"/>
            </a:pPr>
            <a:r>
              <a:rPr lang="en-US" sz="2293">
                <a:solidFill>
                  <a:srgbClr val="000000"/>
                </a:solidFill>
                <a:latin typeface="Arimo Bold"/>
                <a:ea typeface="Arimo Bold"/>
                <a:cs typeface="Arimo Bold"/>
                <a:sym typeface="Arimo Bold"/>
              </a:rPr>
              <a:t>Regulatory compliance and certification</a:t>
            </a:r>
          </a:p>
          <a:p>
            <a:pPr marL="495168" lvl="1" indent="-247584" algn="l">
              <a:lnSpc>
                <a:spcPts val="2752"/>
              </a:lnSpc>
              <a:buFont typeface="Arial"/>
              <a:buChar char="•"/>
            </a:pPr>
            <a:r>
              <a:rPr lang="en-US" sz="2293">
                <a:solidFill>
                  <a:srgbClr val="000000"/>
                </a:solidFill>
                <a:latin typeface="Arimo Bold"/>
                <a:ea typeface="Arimo Bold"/>
                <a:cs typeface="Arimo Bold"/>
                <a:sym typeface="Arimo Bold"/>
              </a:rPr>
              <a:t>Customer support and training</a:t>
            </a:r>
          </a:p>
        </p:txBody>
      </p:sp>
      <p:sp>
        <p:nvSpPr>
          <p:cNvPr id="64" name="TextBox 64"/>
          <p:cNvSpPr txBox="1"/>
          <p:nvPr/>
        </p:nvSpPr>
        <p:spPr>
          <a:xfrm>
            <a:off x="9141642" y="7473287"/>
            <a:ext cx="8876976" cy="1829990"/>
          </a:xfrm>
          <a:prstGeom prst="rect">
            <a:avLst/>
          </a:prstGeom>
        </p:spPr>
        <p:txBody>
          <a:bodyPr lIns="0" tIns="0" rIns="0" bIns="0" rtlCol="0" anchor="t">
            <a:spAutoFit/>
          </a:bodyPr>
          <a:lstStyle/>
          <a:p>
            <a:pPr marL="518747" lvl="1" indent="-259373" algn="l">
              <a:lnSpc>
                <a:spcPts val="2883"/>
              </a:lnSpc>
              <a:buFont typeface="Arial"/>
              <a:buChar char="•"/>
            </a:pPr>
            <a:r>
              <a:rPr lang="en-US" sz="2402">
                <a:solidFill>
                  <a:srgbClr val="000000"/>
                </a:solidFill>
                <a:latin typeface="Arimo Bold"/>
                <a:ea typeface="Arimo Bold"/>
                <a:cs typeface="Arimo Bold"/>
                <a:sym typeface="Arimo Bold"/>
              </a:rPr>
              <a:t>Money from selling hardware units</a:t>
            </a:r>
          </a:p>
          <a:p>
            <a:pPr marL="518747" lvl="1" indent="-259373" algn="l">
              <a:lnSpc>
                <a:spcPts val="2883"/>
              </a:lnSpc>
              <a:buFont typeface="Arial"/>
              <a:buChar char="•"/>
            </a:pPr>
            <a:r>
              <a:rPr lang="en-US" sz="2402">
                <a:solidFill>
                  <a:srgbClr val="000000"/>
                </a:solidFill>
                <a:latin typeface="Arimo Bold"/>
                <a:ea typeface="Arimo Bold"/>
                <a:cs typeface="Arimo Bold"/>
                <a:sym typeface="Arimo Bold"/>
              </a:rPr>
              <a:t>Fees from licensing the technology to car companies</a:t>
            </a:r>
          </a:p>
          <a:p>
            <a:pPr marL="518747" lvl="1" indent="-259373" algn="l">
              <a:lnSpc>
                <a:spcPts val="2883"/>
              </a:lnSpc>
              <a:buFont typeface="Arial"/>
              <a:buChar char="•"/>
            </a:pPr>
            <a:r>
              <a:rPr lang="en-US" sz="2402">
                <a:solidFill>
                  <a:srgbClr val="000000"/>
                </a:solidFill>
                <a:latin typeface="Arimo Bold"/>
                <a:ea typeface="Arimo Bold"/>
                <a:cs typeface="Arimo Bold"/>
                <a:sym typeface="Arimo Bold"/>
              </a:rPr>
              <a:t>Subscription fees for software updates and extra features</a:t>
            </a:r>
          </a:p>
          <a:p>
            <a:pPr marL="518747" lvl="1" indent="-259373" algn="l">
              <a:lnSpc>
                <a:spcPts val="2883"/>
              </a:lnSpc>
              <a:buFont typeface="Arial"/>
              <a:buChar char="•"/>
            </a:pPr>
            <a:r>
              <a:rPr lang="en-US" sz="2402">
                <a:solidFill>
                  <a:srgbClr val="000000"/>
                </a:solidFill>
                <a:latin typeface="Arimo Bold"/>
                <a:ea typeface="Arimo Bold"/>
                <a:cs typeface="Arimo Bold"/>
                <a:sym typeface="Arimo Bold"/>
              </a:rPr>
              <a:t>Revenue from selling anonymized data</a:t>
            </a:r>
          </a:p>
          <a:p>
            <a:pPr marL="518747" lvl="1" indent="-259373" algn="l">
              <a:lnSpc>
                <a:spcPts val="2883"/>
              </a:lnSpc>
              <a:buFont typeface="Arial"/>
              <a:buChar char="•"/>
            </a:pPr>
            <a:r>
              <a:rPr lang="en-US" sz="2402">
                <a:solidFill>
                  <a:srgbClr val="000000"/>
                </a:solidFill>
                <a:latin typeface="Arimo Bold"/>
                <a:ea typeface="Arimo Bold"/>
                <a:cs typeface="Arimo Bold"/>
                <a:sym typeface="Arimo Bold"/>
              </a:rPr>
              <a:t>Income from installation and maintenance services</a:t>
            </a:r>
          </a:p>
        </p:txBody>
      </p:sp>
      <p:sp>
        <p:nvSpPr>
          <p:cNvPr id="65" name="TextBox 65"/>
          <p:cNvSpPr txBox="1"/>
          <p:nvPr/>
        </p:nvSpPr>
        <p:spPr>
          <a:xfrm>
            <a:off x="4763" y="1873628"/>
            <a:ext cx="3591889" cy="4699738"/>
          </a:xfrm>
          <a:prstGeom prst="rect">
            <a:avLst/>
          </a:prstGeom>
        </p:spPr>
        <p:txBody>
          <a:bodyPr lIns="0" tIns="0" rIns="0" bIns="0" rtlCol="0" anchor="t">
            <a:spAutoFit/>
          </a:bodyPr>
          <a:lstStyle/>
          <a:p>
            <a:pPr marL="565904" lvl="1" indent="-282952" algn="l">
              <a:lnSpc>
                <a:spcPts val="3381"/>
              </a:lnSpc>
              <a:buFont typeface="Arial"/>
              <a:buChar char="•"/>
            </a:pPr>
            <a:r>
              <a:rPr lang="en-US" sz="2621">
                <a:solidFill>
                  <a:srgbClr val="000000"/>
                </a:solidFill>
                <a:latin typeface="Arimo Bold"/>
                <a:ea typeface="Arimo Bold"/>
                <a:cs typeface="Arimo Bold"/>
                <a:sym typeface="Arimo Bold"/>
              </a:rPr>
              <a:t>NVIDIA</a:t>
            </a:r>
          </a:p>
          <a:p>
            <a:pPr marL="565904" lvl="1" indent="-282952" algn="l">
              <a:lnSpc>
                <a:spcPts val="3381"/>
              </a:lnSpc>
              <a:buFont typeface="Arial"/>
              <a:buChar char="•"/>
            </a:pPr>
            <a:r>
              <a:rPr lang="en-US" sz="2621">
                <a:solidFill>
                  <a:srgbClr val="000000"/>
                </a:solidFill>
                <a:latin typeface="Arimo Bold"/>
                <a:ea typeface="Arimo Bold"/>
                <a:cs typeface="Arimo Bold"/>
                <a:sym typeface="Arimo Bold"/>
              </a:rPr>
              <a:t>Sensor and Camera Manufacturers</a:t>
            </a:r>
          </a:p>
          <a:p>
            <a:pPr marL="565904" lvl="1" indent="-282952" algn="l">
              <a:lnSpc>
                <a:spcPts val="3381"/>
              </a:lnSpc>
              <a:buFont typeface="Arial"/>
              <a:buChar char="•"/>
            </a:pPr>
            <a:r>
              <a:rPr lang="en-US" sz="2621">
                <a:solidFill>
                  <a:srgbClr val="000000"/>
                </a:solidFill>
                <a:latin typeface="Arimo Bold"/>
                <a:ea typeface="Arimo Bold"/>
                <a:cs typeface="Arimo Bold"/>
                <a:sym typeface="Arimo Bold"/>
              </a:rPr>
              <a:t>Automotive Manufacturers</a:t>
            </a:r>
          </a:p>
          <a:p>
            <a:pPr marL="565904" lvl="1" indent="-282952" algn="l">
              <a:lnSpc>
                <a:spcPts val="3381"/>
              </a:lnSpc>
              <a:buFont typeface="Arial"/>
              <a:buChar char="•"/>
            </a:pPr>
            <a:r>
              <a:rPr lang="en-US" sz="2621">
                <a:solidFill>
                  <a:srgbClr val="000000"/>
                </a:solidFill>
                <a:latin typeface="Arimo Bold"/>
                <a:ea typeface="Arimo Bold"/>
                <a:cs typeface="Arimo Bold"/>
                <a:sym typeface="Arimo Bold"/>
              </a:rPr>
              <a:t>Software Development Firms</a:t>
            </a:r>
          </a:p>
          <a:p>
            <a:pPr marL="565904" lvl="1" indent="-282952" algn="l">
              <a:lnSpc>
                <a:spcPts val="3381"/>
              </a:lnSpc>
              <a:buFont typeface="Arial"/>
              <a:buChar char="•"/>
            </a:pPr>
            <a:r>
              <a:rPr lang="en-US" sz="2621">
                <a:solidFill>
                  <a:srgbClr val="000000"/>
                </a:solidFill>
                <a:latin typeface="Arimo Bold"/>
                <a:ea typeface="Arimo Bold"/>
                <a:cs typeface="Arimo Bold"/>
                <a:sym typeface="Arimo Bold"/>
              </a:rPr>
              <a:t>Regulatory Agencies</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TextBox 11"/>
          <p:cNvSpPr txBox="1"/>
          <p:nvPr/>
        </p:nvSpPr>
        <p:spPr>
          <a:xfrm>
            <a:off x="1691640" y="619363"/>
            <a:ext cx="14066520" cy="687526"/>
          </a:xfrm>
          <a:prstGeom prst="rect">
            <a:avLst/>
          </a:prstGeom>
        </p:spPr>
        <p:txBody>
          <a:bodyPr lIns="0" tIns="0" rIns="0" bIns="0" rtlCol="0" anchor="t">
            <a:spAutoFit/>
          </a:bodyPr>
          <a:lstStyle/>
          <a:p>
            <a:pPr algn="ctr">
              <a:lnSpc>
                <a:spcPts val="5280"/>
              </a:lnSpc>
            </a:pPr>
            <a:r>
              <a:rPr lang="en-US" sz="4400" spc="41">
                <a:solidFill>
                  <a:srgbClr val="FF0000"/>
                </a:solidFill>
                <a:latin typeface="TT Rounds Condensed Bold"/>
                <a:ea typeface="TT Rounds Condensed Bold"/>
                <a:cs typeface="TT Rounds Condensed Bold"/>
                <a:sym typeface="TT Rounds Condensed Bold"/>
              </a:rPr>
              <a:t>INNOVATIVE SOLUTIONS</a:t>
            </a:r>
          </a:p>
        </p:txBody>
      </p:sp>
      <p:sp>
        <p:nvSpPr>
          <p:cNvPr id="12" name="TextBox 12"/>
          <p:cNvSpPr txBox="1"/>
          <p:nvPr/>
        </p:nvSpPr>
        <p:spPr>
          <a:xfrm>
            <a:off x="2148840" y="1636395"/>
            <a:ext cx="14371320" cy="5101042"/>
          </a:xfrm>
          <a:prstGeom prst="rect">
            <a:avLst/>
          </a:prstGeom>
        </p:spPr>
        <p:txBody>
          <a:bodyPr lIns="0" tIns="0" rIns="0" bIns="0" rtlCol="0" anchor="t">
            <a:spAutoFit/>
          </a:bodyPr>
          <a:lstStyle/>
          <a:p>
            <a:pPr marL="434340" lvl="1" indent="-217170" algn="l">
              <a:lnSpc>
                <a:spcPts val="6480"/>
              </a:lnSpc>
              <a:buAutoNum type="arabicPeriod"/>
            </a:pPr>
            <a:r>
              <a:rPr lang="en-US" sz="3600" spc="33" dirty="0">
                <a:solidFill>
                  <a:srgbClr val="000000"/>
                </a:solidFill>
                <a:latin typeface="TT Rounds Condensed"/>
                <a:ea typeface="TT Rounds Condensed"/>
                <a:cs typeface="TT Rounds Condensed"/>
                <a:sym typeface="TT Rounds Condensed"/>
              </a:rPr>
              <a:t>The system is going to introduced for the existing vehicles. </a:t>
            </a:r>
          </a:p>
          <a:p>
            <a:pPr marL="434340" lvl="1" indent="-217170" algn="l">
              <a:lnSpc>
                <a:spcPts val="6480"/>
              </a:lnSpc>
              <a:buAutoNum type="arabicPeriod"/>
            </a:pPr>
            <a:r>
              <a:rPr lang="en-US" sz="3600" spc="33" dirty="0">
                <a:solidFill>
                  <a:srgbClr val="000000"/>
                </a:solidFill>
                <a:latin typeface="TT Rounds Condensed"/>
                <a:ea typeface="TT Rounds Condensed"/>
                <a:cs typeface="TT Rounds Condensed"/>
                <a:sym typeface="TT Rounds Condensed"/>
              </a:rPr>
              <a:t>Personalized Driver Assistance and Comfort</a:t>
            </a:r>
          </a:p>
          <a:p>
            <a:pPr marL="2118360" lvl="5" indent="-353060" algn="l">
              <a:lnSpc>
                <a:spcPts val="4320"/>
              </a:lnSpc>
              <a:buFont typeface="Arial"/>
              <a:buChar char="⚬"/>
            </a:pPr>
            <a:r>
              <a:rPr lang="en-US" sz="2400" spc="22" dirty="0">
                <a:solidFill>
                  <a:srgbClr val="000000"/>
                </a:solidFill>
                <a:latin typeface="TT Rounds Condensed"/>
                <a:ea typeface="TT Rounds Condensed"/>
                <a:cs typeface="TT Rounds Condensed"/>
                <a:sym typeface="TT Rounds Condensed"/>
              </a:rPr>
              <a:t>                   User-configurable ADAS features</a:t>
            </a:r>
          </a:p>
          <a:p>
            <a:pPr marL="2575560" lvl="6" indent="-367937" algn="l">
              <a:lnSpc>
                <a:spcPts val="4320"/>
              </a:lnSpc>
              <a:buFont typeface="Arial"/>
              <a:buChar char="￭"/>
            </a:pPr>
            <a:r>
              <a:rPr lang="en-US" sz="2400" spc="22" dirty="0">
                <a:solidFill>
                  <a:srgbClr val="000000"/>
                </a:solidFill>
                <a:latin typeface="TT Rounds Condensed"/>
                <a:ea typeface="TT Rounds Condensed"/>
                <a:cs typeface="TT Rounds Condensed"/>
                <a:sym typeface="TT Rounds Condensed"/>
              </a:rPr>
              <a:t>              Context-aware assistance</a:t>
            </a:r>
          </a:p>
          <a:p>
            <a:pPr marL="2575560" lvl="6" indent="-367937" algn="l">
              <a:lnSpc>
                <a:spcPts val="4320"/>
              </a:lnSpc>
              <a:buFont typeface="Arial"/>
              <a:buChar char="￭"/>
            </a:pPr>
            <a:r>
              <a:rPr lang="en-US" sz="2400" spc="22" dirty="0">
                <a:solidFill>
                  <a:srgbClr val="000000"/>
                </a:solidFill>
                <a:latin typeface="TT Rounds Condensed"/>
                <a:ea typeface="TT Rounds Condensed"/>
                <a:cs typeface="TT Rounds Condensed"/>
                <a:sym typeface="TT Rounds Condensed"/>
              </a:rPr>
              <a:t>              Integration with existing in-vehicle systems</a:t>
            </a:r>
          </a:p>
          <a:p>
            <a:pPr marL="434340" lvl="1" indent="-217170" algn="l">
              <a:lnSpc>
                <a:spcPts val="6480"/>
              </a:lnSpc>
              <a:buAutoNum type="arabicPeriod"/>
            </a:pPr>
            <a:r>
              <a:rPr lang="en-US" sz="3600" spc="33" dirty="0">
                <a:solidFill>
                  <a:srgbClr val="000000"/>
                </a:solidFill>
                <a:latin typeface="TT Rounds Condensed"/>
                <a:ea typeface="TT Rounds Condensed"/>
                <a:cs typeface="TT Rounds Condensed"/>
                <a:sym typeface="TT Rounds Condensed"/>
              </a:rPr>
              <a:t>And also finally we are going to connect all these things through mobile app. So, driver can get all these facilities through the mobile app.  </a:t>
            </a:r>
          </a:p>
        </p:txBody>
      </p:sp>
      <p:sp>
        <p:nvSpPr>
          <p:cNvPr id="13" name="TextBox 13"/>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15</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TextBox 11"/>
          <p:cNvSpPr txBox="1"/>
          <p:nvPr/>
        </p:nvSpPr>
        <p:spPr>
          <a:xfrm>
            <a:off x="3721293" y="557380"/>
            <a:ext cx="12039600" cy="529973"/>
          </a:xfrm>
          <a:prstGeom prst="rect">
            <a:avLst/>
          </a:prstGeom>
        </p:spPr>
        <p:txBody>
          <a:bodyPr lIns="0" tIns="0" rIns="0" bIns="0" rtlCol="0" anchor="t">
            <a:spAutoFit/>
          </a:bodyPr>
          <a:lstStyle/>
          <a:p>
            <a:pPr algn="r">
              <a:lnSpc>
                <a:spcPts val="5040"/>
              </a:lnSpc>
            </a:pPr>
            <a:r>
              <a:rPr lang="en-US" sz="5400" spc="10">
                <a:solidFill>
                  <a:srgbClr val="CD0505"/>
                </a:solidFill>
                <a:latin typeface="Archivo Black"/>
                <a:ea typeface="Archivo Black"/>
                <a:cs typeface="Archivo Black"/>
                <a:sym typeface="Archivo Black"/>
              </a:rPr>
              <a:t> </a:t>
            </a:r>
            <a:r>
              <a:rPr lang="en-US" sz="5400" u="sng" spc="10">
                <a:solidFill>
                  <a:srgbClr val="CD0505"/>
                </a:solidFill>
                <a:latin typeface="Archivo Black"/>
                <a:ea typeface="Archivo Black"/>
                <a:cs typeface="Archivo Black"/>
                <a:sym typeface="Archivo Black"/>
              </a:rPr>
              <a:t>CHALLENGES AND SOLUTIONS</a:t>
            </a:r>
          </a:p>
        </p:txBody>
      </p:sp>
      <p:sp>
        <p:nvSpPr>
          <p:cNvPr id="12" name="Freeform 12"/>
          <p:cNvSpPr/>
          <p:nvPr/>
        </p:nvSpPr>
        <p:spPr>
          <a:xfrm>
            <a:off x="3029205" y="7546331"/>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663479" y="1028700"/>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3173144" y="8345426"/>
            <a:ext cx="4658180" cy="724609"/>
          </a:xfrm>
          <a:custGeom>
            <a:avLst/>
            <a:gdLst/>
            <a:ahLst/>
            <a:cxnLst/>
            <a:rect l="l" t="t" r="r" b="b"/>
            <a:pathLst>
              <a:path w="4658180" h="724609">
                <a:moveTo>
                  <a:pt x="0" y="0"/>
                </a:moveTo>
                <a:lnTo>
                  <a:pt x="4658179" y="0"/>
                </a:lnTo>
                <a:lnTo>
                  <a:pt x="4658179" y="724610"/>
                </a:lnTo>
                <a:lnTo>
                  <a:pt x="0" y="724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aphicFrame>
        <p:nvGraphicFramePr>
          <p:cNvPr id="15" name="Table 15"/>
          <p:cNvGraphicFramePr>
            <a:graphicFrameLocks noGrp="1"/>
          </p:cNvGraphicFramePr>
          <p:nvPr/>
        </p:nvGraphicFramePr>
        <p:xfrm>
          <a:off x="1046983" y="1216965"/>
          <a:ext cx="16471900" cy="8567738"/>
        </p:xfrm>
        <a:graphic>
          <a:graphicData uri="http://schemas.openxmlformats.org/drawingml/2006/table">
            <a:tbl>
              <a:tblPr/>
              <a:tblGrid>
                <a:gridCol w="7174872">
                  <a:extLst>
                    <a:ext uri="{9D8B030D-6E8A-4147-A177-3AD203B41FA5}">
                      <a16:colId xmlns:a16="http://schemas.microsoft.com/office/drawing/2014/main" val="20000"/>
                    </a:ext>
                  </a:extLst>
                </a:gridCol>
                <a:gridCol w="9297028">
                  <a:extLst>
                    <a:ext uri="{9D8B030D-6E8A-4147-A177-3AD203B41FA5}">
                      <a16:colId xmlns:a16="http://schemas.microsoft.com/office/drawing/2014/main" val="20001"/>
                    </a:ext>
                  </a:extLst>
                </a:gridCol>
              </a:tblGrid>
              <a:tr h="991151">
                <a:tc>
                  <a:txBody>
                    <a:bodyPr/>
                    <a:lstStyle/>
                    <a:p>
                      <a:pPr algn="ctr">
                        <a:lnSpc>
                          <a:spcPts val="4800"/>
                        </a:lnSpc>
                        <a:defRPr/>
                      </a:pPr>
                      <a:r>
                        <a:rPr lang="en-US" sz="4000" spc="37">
                          <a:solidFill>
                            <a:srgbClr val="FFFFFF"/>
                          </a:solidFill>
                          <a:latin typeface="TT Rounds Condensed Bold"/>
                          <a:ea typeface="TT Rounds Condensed Bold"/>
                          <a:cs typeface="TT Rounds Condensed Bold"/>
                          <a:sym typeface="TT Rounds Condensed Bold"/>
                        </a:rPr>
                        <a:t>CHALLENGES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9B2D1F"/>
                    </a:solidFill>
                  </a:tcPr>
                </a:tc>
                <a:tc>
                  <a:txBody>
                    <a:bodyPr/>
                    <a:lstStyle/>
                    <a:p>
                      <a:pPr algn="ctr">
                        <a:lnSpc>
                          <a:spcPts val="4800"/>
                        </a:lnSpc>
                        <a:defRPr/>
                      </a:pPr>
                      <a:r>
                        <a:rPr lang="en-US" sz="4000" spc="37">
                          <a:solidFill>
                            <a:srgbClr val="FFFFFF"/>
                          </a:solidFill>
                          <a:latin typeface="TT Rounds Condensed Bold"/>
                          <a:ea typeface="TT Rounds Condensed Bold"/>
                          <a:cs typeface="TT Rounds Condensed Bold"/>
                          <a:sym typeface="TT Rounds Condensed Bold"/>
                        </a:rPr>
                        <a:t>SOLUTION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9B2D1F"/>
                    </a:solidFill>
                  </a:tcPr>
                </a:tc>
                <a:extLst>
                  <a:ext uri="{0D108BD9-81ED-4DB2-BD59-A6C34878D82A}">
                    <a16:rowId xmlns:a16="http://schemas.microsoft.com/office/drawing/2014/main" val="10000"/>
                  </a:ext>
                </a:extLst>
              </a:tr>
              <a:tr h="2849559">
                <a:tc>
                  <a:txBody>
                    <a:bodyPr/>
                    <a:lstStyle/>
                    <a:p>
                      <a:pPr algn="l">
                        <a:lnSpc>
                          <a:spcPts val="3359"/>
                        </a:lnSpc>
                        <a:defRPr/>
                      </a:pPr>
                      <a:r>
                        <a:rPr lang="en-US" sz="2799" spc="26">
                          <a:solidFill>
                            <a:srgbClr val="000000"/>
                          </a:solidFill>
                          <a:latin typeface="TT Rounds Condensed"/>
                          <a:ea typeface="TT Rounds Condensed"/>
                          <a:cs typeface="TT Rounds Condensed"/>
                          <a:sym typeface="TT Rounds Condensed"/>
                        </a:rPr>
                        <a:t>we got some errors while creating the required environment in jetson card. </a:t>
                      </a:r>
                      <a:endParaRPr lang="en-US" sz="1100"/>
                    </a:p>
                    <a:p>
                      <a:pPr algn="l">
                        <a:lnSpc>
                          <a:spcPts val="3359"/>
                        </a:lnSpc>
                      </a:pPr>
                      <a:r>
                        <a:rPr lang="en-US" sz="2799" spc="26">
                          <a:solidFill>
                            <a:srgbClr val="000000"/>
                          </a:solidFill>
                          <a:latin typeface="TT Rounds Condensed Bold"/>
                          <a:ea typeface="TT Rounds Condensed Bold"/>
                          <a:cs typeface="TT Rounds Condensed Bold"/>
                          <a:sym typeface="TT Rounds Condensed Bold"/>
                        </a:rPr>
                        <a:t>Ex: </a:t>
                      </a:r>
                      <a:r>
                        <a:rPr lang="en-US" sz="2799" spc="26">
                          <a:solidFill>
                            <a:srgbClr val="000000"/>
                          </a:solidFill>
                          <a:latin typeface="TT Rounds Condensed"/>
                          <a:ea typeface="TT Rounds Condensed"/>
                          <a:cs typeface="TT Rounds Condensed"/>
                          <a:sym typeface="TT Rounds Condensed"/>
                        </a:rPr>
                        <a:t>installed torch and torch vision version were not compatible</a:t>
                      </a: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tc>
                  <a:txBody>
                    <a:bodyPr/>
                    <a:lstStyle/>
                    <a:p>
                      <a:pPr algn="l">
                        <a:lnSpc>
                          <a:spcPts val="3359"/>
                        </a:lnSpc>
                        <a:defRPr/>
                      </a:pPr>
                      <a:r>
                        <a:rPr lang="en-US" sz="2799" spc="26">
                          <a:solidFill>
                            <a:srgbClr val="000000"/>
                          </a:solidFill>
                          <a:latin typeface="TT Rounds Condensed"/>
                          <a:ea typeface="TT Rounds Condensed"/>
                          <a:cs typeface="TT Rounds Condensed"/>
                          <a:sym typeface="TT Rounds Condensed"/>
                        </a:rPr>
                        <a:t>We had to remove all the installed versions and had to upgraded all to new versions </a:t>
                      </a:r>
                      <a:endParaRPr lang="en-US" sz="1100"/>
                    </a:p>
                    <a:p>
                      <a:pPr algn="l">
                        <a:lnSpc>
                          <a:spcPts val="3359"/>
                        </a:lnSpc>
                      </a:pPr>
                      <a:r>
                        <a:rPr lang="en-US" sz="2799" spc="26">
                          <a:solidFill>
                            <a:srgbClr val="000000"/>
                          </a:solidFill>
                          <a:latin typeface="TT Rounds Condensed Bold"/>
                          <a:ea typeface="TT Rounds Condensed Bold"/>
                          <a:cs typeface="TT Rounds Condensed Bold"/>
                          <a:sym typeface="TT Rounds Condensed Bold"/>
                        </a:rPr>
                        <a:t>Ex: </a:t>
                      </a:r>
                      <a:r>
                        <a:rPr lang="en-US" sz="2799" spc="26">
                          <a:solidFill>
                            <a:srgbClr val="000000"/>
                          </a:solidFill>
                          <a:latin typeface="TT Rounds Condensed"/>
                          <a:ea typeface="TT Rounds Condensed"/>
                          <a:cs typeface="TT Rounds Condensed"/>
                          <a:sym typeface="TT Rounds Condensed"/>
                        </a:rPr>
                        <a:t>jetpack version 5.1.1.</a:t>
                      </a:r>
                    </a:p>
                    <a:p>
                      <a:pPr algn="l">
                        <a:lnSpc>
                          <a:spcPts val="3359"/>
                        </a:lnSpc>
                      </a:pPr>
                      <a:r>
                        <a:rPr lang="en-US" sz="2799" spc="26">
                          <a:solidFill>
                            <a:srgbClr val="000000"/>
                          </a:solidFill>
                          <a:latin typeface="TT Rounds Condensed"/>
                          <a:ea typeface="TT Rounds Condensed"/>
                          <a:cs typeface="TT Rounds Condensed"/>
                          <a:sym typeface="TT Rounds Condensed"/>
                        </a:rPr>
                        <a:t>Compatible torch version: 2.0.1.</a:t>
                      </a:r>
                    </a:p>
                    <a:p>
                      <a:pPr algn="l">
                        <a:lnSpc>
                          <a:spcPts val="3359"/>
                        </a:lnSpc>
                      </a:pPr>
                      <a:r>
                        <a:rPr lang="en-US" sz="2799" spc="26">
                          <a:solidFill>
                            <a:srgbClr val="000000"/>
                          </a:solidFill>
                          <a:latin typeface="TT Rounds Condensed"/>
                          <a:ea typeface="TT Rounds Condensed"/>
                          <a:cs typeface="TT Rounds Condensed"/>
                          <a:sym typeface="TT Rounds Condensed"/>
                        </a:rPr>
                        <a:t>Compatible torch vision version: 0.15.2</a:t>
                      </a:r>
                    </a:p>
                    <a:p>
                      <a:pPr algn="l">
                        <a:lnSpc>
                          <a:spcPts val="3359"/>
                        </a:lnSpc>
                      </a:pPr>
                      <a:r>
                        <a:rPr lang="en-US" sz="2799" spc="26">
                          <a:solidFill>
                            <a:srgbClr val="000000"/>
                          </a:solidFill>
                          <a:latin typeface="TT Rounds Condensed"/>
                          <a:ea typeface="TT Rounds Condensed"/>
                          <a:cs typeface="TT Rounds Condensed"/>
                          <a:sym typeface="TT Rounds Condensed"/>
                        </a:rPr>
                        <a:t>Compatible open cv version : 4.5.4</a:t>
                      </a: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extLst>
                  <a:ext uri="{0D108BD9-81ED-4DB2-BD59-A6C34878D82A}">
                    <a16:rowId xmlns:a16="http://schemas.microsoft.com/office/drawing/2014/main" val="10001"/>
                  </a:ext>
                </a:extLst>
              </a:tr>
              <a:tr h="1172227">
                <a:tc>
                  <a:txBody>
                    <a:bodyPr/>
                    <a:lstStyle/>
                    <a:p>
                      <a:pPr algn="l">
                        <a:lnSpc>
                          <a:spcPts val="3359"/>
                        </a:lnSpc>
                        <a:defRPr/>
                      </a:pPr>
                      <a:r>
                        <a:rPr lang="en-US" sz="2799" spc="26">
                          <a:solidFill>
                            <a:srgbClr val="000000"/>
                          </a:solidFill>
                          <a:latin typeface="TT Rounds Condensed"/>
                          <a:ea typeface="TT Rounds Condensed"/>
                          <a:cs typeface="TT Rounds Condensed"/>
                          <a:sym typeface="TT Rounds Condensed"/>
                        </a:rPr>
                        <a:t>We need USB or CSI camera as an input in order to deploy the model.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FE8E7"/>
                    </a:solidFill>
                  </a:tcPr>
                </a:tc>
                <a:tc>
                  <a:txBody>
                    <a:bodyPr/>
                    <a:lstStyle/>
                    <a:p>
                      <a:pPr algn="l">
                        <a:lnSpc>
                          <a:spcPts val="3359"/>
                        </a:lnSpc>
                        <a:defRPr/>
                      </a:pPr>
                      <a:r>
                        <a:rPr lang="en-US" sz="2799" spc="26">
                          <a:solidFill>
                            <a:srgbClr val="000000"/>
                          </a:solidFill>
                          <a:latin typeface="TT Rounds Condensed"/>
                          <a:ea typeface="TT Rounds Condensed"/>
                          <a:cs typeface="TT Rounds Condensed"/>
                          <a:sym typeface="TT Rounds Condensed"/>
                        </a:rPr>
                        <a:t>We use live RTSP camera stream using a mobile phone camera as the source though a mobile app called IP Webcam.</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FE8E7"/>
                    </a:solidFill>
                  </a:tcPr>
                </a:tc>
                <a:extLst>
                  <a:ext uri="{0D108BD9-81ED-4DB2-BD59-A6C34878D82A}">
                    <a16:rowId xmlns:a16="http://schemas.microsoft.com/office/drawing/2014/main" val="10002"/>
                  </a:ext>
                </a:extLst>
              </a:tr>
              <a:tr h="1963241">
                <a:tc>
                  <a:txBody>
                    <a:bodyPr/>
                    <a:lstStyle/>
                    <a:p>
                      <a:pPr algn="l">
                        <a:lnSpc>
                          <a:spcPts val="3240"/>
                        </a:lnSpc>
                        <a:defRPr/>
                      </a:pPr>
                      <a:r>
                        <a:rPr lang="en-US" sz="2700" spc="25">
                          <a:solidFill>
                            <a:srgbClr val="000000"/>
                          </a:solidFill>
                          <a:latin typeface="TT Rounds Condensed Bold"/>
                          <a:ea typeface="TT Rounds Condensed Bold"/>
                          <a:cs typeface="TT Rounds Condensed Bold"/>
                          <a:sym typeface="TT Rounds Condensed Bold"/>
                        </a:rPr>
                        <a:t>Environmental Variations </a:t>
                      </a:r>
                      <a:r>
                        <a:rPr lang="en-US" sz="2700" spc="25">
                          <a:solidFill>
                            <a:srgbClr val="000000"/>
                          </a:solidFill>
                          <a:latin typeface="TT Rounds Condensed"/>
                          <a:ea typeface="TT Rounds Condensed"/>
                          <a:cs typeface="TT Rounds Condensed"/>
                          <a:sym typeface="TT Rounds Condensed"/>
                        </a:rPr>
                        <a:t>- Weather conditions, lighting changes, and complex road scenarios can affect sensor performance and algorithm accuracy.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tc>
                  <a:txBody>
                    <a:bodyPr/>
                    <a:lstStyle/>
                    <a:p>
                      <a:pPr algn="l">
                        <a:lnSpc>
                          <a:spcPts val="3240"/>
                        </a:lnSpc>
                        <a:defRPr/>
                      </a:pPr>
                      <a:r>
                        <a:rPr lang="en-US" sz="2700" spc="25">
                          <a:solidFill>
                            <a:srgbClr val="000000"/>
                          </a:solidFill>
                          <a:latin typeface="TT Rounds Condensed"/>
                          <a:ea typeface="TT Rounds Condensed"/>
                          <a:cs typeface="TT Rounds Condensed"/>
                          <a:sym typeface="TT Rounds Condensed"/>
                        </a:rPr>
                        <a:t>Train algorithms on diverse datasets covering a wide range of weather and lighting conditions. Implement adaptive algorithms that adjust processing based on real-time environmental factors.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extLst>
                  <a:ext uri="{0D108BD9-81ED-4DB2-BD59-A6C34878D82A}">
                    <a16:rowId xmlns:a16="http://schemas.microsoft.com/office/drawing/2014/main" val="10003"/>
                  </a:ext>
                </a:extLst>
              </a:tr>
              <a:tr h="1591560">
                <a:tc>
                  <a:txBody>
                    <a:bodyPr/>
                    <a:lstStyle/>
                    <a:p>
                      <a:pPr algn="l">
                        <a:lnSpc>
                          <a:spcPts val="3359"/>
                        </a:lnSpc>
                        <a:defRPr/>
                      </a:pPr>
                      <a:r>
                        <a:rPr lang="en-US" sz="2799" spc="26">
                          <a:solidFill>
                            <a:srgbClr val="000000"/>
                          </a:solidFill>
                          <a:latin typeface="TT Rounds Condensed"/>
                          <a:ea typeface="TT Rounds Condensed"/>
                          <a:cs typeface="TT Rounds Condensed"/>
                          <a:sym typeface="TT Rounds Condensed"/>
                        </a:rPr>
                        <a:t>Getting real time speed to inside of the vehicle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FE8E7"/>
                    </a:solidFill>
                  </a:tcPr>
                </a:tc>
                <a:tc>
                  <a:txBody>
                    <a:bodyPr/>
                    <a:lstStyle/>
                    <a:p>
                      <a:pPr algn="l">
                        <a:lnSpc>
                          <a:spcPts val="3359"/>
                        </a:lnSpc>
                        <a:defRPr/>
                      </a:pPr>
                      <a:r>
                        <a:rPr lang="en-US" sz="2799" spc="26">
                          <a:solidFill>
                            <a:srgbClr val="000000"/>
                          </a:solidFill>
                          <a:latin typeface="TT Rounds Condensed"/>
                          <a:ea typeface="TT Rounds Condensed"/>
                          <a:cs typeface="TT Rounds Condensed"/>
                          <a:sym typeface="TT Rounds Condensed"/>
                        </a:rPr>
                        <a:t>We are going to develop mobile app therefore we can get the speed from the mobile app and it can be connected to the Jetson card through API.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FE8E7"/>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20</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TextBox 11"/>
          <p:cNvSpPr txBox="1"/>
          <p:nvPr/>
        </p:nvSpPr>
        <p:spPr>
          <a:xfrm>
            <a:off x="3721293" y="557380"/>
            <a:ext cx="12039600" cy="529973"/>
          </a:xfrm>
          <a:prstGeom prst="rect">
            <a:avLst/>
          </a:prstGeom>
        </p:spPr>
        <p:txBody>
          <a:bodyPr lIns="0" tIns="0" rIns="0" bIns="0" rtlCol="0" anchor="t">
            <a:spAutoFit/>
          </a:bodyPr>
          <a:lstStyle/>
          <a:p>
            <a:pPr algn="r">
              <a:lnSpc>
                <a:spcPts val="5040"/>
              </a:lnSpc>
            </a:pPr>
            <a:r>
              <a:rPr lang="en-US" sz="5400" spc="10">
                <a:solidFill>
                  <a:srgbClr val="CD0505"/>
                </a:solidFill>
                <a:latin typeface="Archivo Black"/>
                <a:ea typeface="Archivo Black"/>
                <a:cs typeface="Archivo Black"/>
                <a:sym typeface="Archivo Black"/>
              </a:rPr>
              <a:t> </a:t>
            </a:r>
            <a:r>
              <a:rPr lang="en-US" sz="5400" u="sng" spc="10">
                <a:solidFill>
                  <a:srgbClr val="CD0505"/>
                </a:solidFill>
                <a:latin typeface="Archivo Black"/>
                <a:ea typeface="Archivo Black"/>
                <a:cs typeface="Archivo Black"/>
                <a:sym typeface="Archivo Black"/>
              </a:rPr>
              <a:t>CHALLENGES AND SOLUTIONS</a:t>
            </a:r>
          </a:p>
        </p:txBody>
      </p:sp>
      <p:sp>
        <p:nvSpPr>
          <p:cNvPr id="12" name="Freeform 12"/>
          <p:cNvSpPr/>
          <p:nvPr/>
        </p:nvSpPr>
        <p:spPr>
          <a:xfrm>
            <a:off x="3029205" y="7546331"/>
            <a:ext cx="2884359" cy="2600766"/>
          </a:xfrm>
          <a:custGeom>
            <a:avLst/>
            <a:gdLst/>
            <a:ahLst/>
            <a:cxnLst/>
            <a:rect l="l" t="t" r="r" b="b"/>
            <a:pathLst>
              <a:path w="2884359" h="2600766">
                <a:moveTo>
                  <a:pt x="0" y="0"/>
                </a:moveTo>
                <a:lnTo>
                  <a:pt x="2884360" y="0"/>
                </a:lnTo>
                <a:lnTo>
                  <a:pt x="2884360" y="2600767"/>
                </a:lnTo>
                <a:lnTo>
                  <a:pt x="0" y="260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663479" y="1028700"/>
            <a:ext cx="1503164" cy="1425508"/>
          </a:xfrm>
          <a:custGeom>
            <a:avLst/>
            <a:gdLst/>
            <a:ahLst/>
            <a:cxnLst/>
            <a:rect l="l" t="t" r="r" b="b"/>
            <a:pathLst>
              <a:path w="1503164" h="1425508">
                <a:moveTo>
                  <a:pt x="0" y="0"/>
                </a:moveTo>
                <a:lnTo>
                  <a:pt x="1503164" y="0"/>
                </a:lnTo>
                <a:lnTo>
                  <a:pt x="1503164" y="1425508"/>
                </a:lnTo>
                <a:lnTo>
                  <a:pt x="0" y="14255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3173144" y="8345426"/>
            <a:ext cx="4658180" cy="724609"/>
          </a:xfrm>
          <a:custGeom>
            <a:avLst/>
            <a:gdLst/>
            <a:ahLst/>
            <a:cxnLst/>
            <a:rect l="l" t="t" r="r" b="b"/>
            <a:pathLst>
              <a:path w="4658180" h="724609">
                <a:moveTo>
                  <a:pt x="0" y="0"/>
                </a:moveTo>
                <a:lnTo>
                  <a:pt x="4658179" y="0"/>
                </a:lnTo>
                <a:lnTo>
                  <a:pt x="4658179" y="724610"/>
                </a:lnTo>
                <a:lnTo>
                  <a:pt x="0" y="724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aphicFrame>
        <p:nvGraphicFramePr>
          <p:cNvPr id="15" name="Table 15"/>
          <p:cNvGraphicFramePr>
            <a:graphicFrameLocks noGrp="1"/>
          </p:cNvGraphicFramePr>
          <p:nvPr/>
        </p:nvGraphicFramePr>
        <p:xfrm>
          <a:off x="1046983" y="1216965"/>
          <a:ext cx="16471900" cy="8133633"/>
        </p:xfrm>
        <a:graphic>
          <a:graphicData uri="http://schemas.openxmlformats.org/drawingml/2006/table">
            <a:tbl>
              <a:tblPr/>
              <a:tblGrid>
                <a:gridCol w="7174872">
                  <a:extLst>
                    <a:ext uri="{9D8B030D-6E8A-4147-A177-3AD203B41FA5}">
                      <a16:colId xmlns:a16="http://schemas.microsoft.com/office/drawing/2014/main" val="20000"/>
                    </a:ext>
                  </a:extLst>
                </a:gridCol>
                <a:gridCol w="9297028">
                  <a:extLst>
                    <a:ext uri="{9D8B030D-6E8A-4147-A177-3AD203B41FA5}">
                      <a16:colId xmlns:a16="http://schemas.microsoft.com/office/drawing/2014/main" val="20001"/>
                    </a:ext>
                  </a:extLst>
                </a:gridCol>
              </a:tblGrid>
              <a:tr h="998493">
                <a:tc>
                  <a:txBody>
                    <a:bodyPr/>
                    <a:lstStyle/>
                    <a:p>
                      <a:pPr algn="ctr">
                        <a:lnSpc>
                          <a:spcPts val="4800"/>
                        </a:lnSpc>
                        <a:defRPr/>
                      </a:pPr>
                      <a:r>
                        <a:rPr lang="en-US" sz="4000" spc="37">
                          <a:solidFill>
                            <a:srgbClr val="FFFFFF"/>
                          </a:solidFill>
                          <a:latin typeface="TT Rounds Condensed Bold"/>
                          <a:ea typeface="TT Rounds Condensed Bold"/>
                          <a:cs typeface="TT Rounds Condensed Bold"/>
                          <a:sym typeface="TT Rounds Condensed Bold"/>
                        </a:rPr>
                        <a:t>CHALLENGES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9B2D1F"/>
                    </a:solidFill>
                  </a:tcPr>
                </a:tc>
                <a:tc>
                  <a:txBody>
                    <a:bodyPr/>
                    <a:lstStyle/>
                    <a:p>
                      <a:pPr algn="ctr">
                        <a:lnSpc>
                          <a:spcPts val="4800"/>
                        </a:lnSpc>
                        <a:defRPr/>
                      </a:pPr>
                      <a:r>
                        <a:rPr lang="en-US" sz="4000" spc="37">
                          <a:solidFill>
                            <a:srgbClr val="FFFFFF"/>
                          </a:solidFill>
                          <a:latin typeface="TT Rounds Condensed Bold"/>
                          <a:ea typeface="TT Rounds Condensed Bold"/>
                          <a:cs typeface="TT Rounds Condensed Bold"/>
                          <a:sym typeface="TT Rounds Condensed Bold"/>
                        </a:rPr>
                        <a:t>SOLUTION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9B2D1F"/>
                    </a:solidFill>
                  </a:tcPr>
                </a:tc>
                <a:extLst>
                  <a:ext uri="{0D108BD9-81ED-4DB2-BD59-A6C34878D82A}">
                    <a16:rowId xmlns:a16="http://schemas.microsoft.com/office/drawing/2014/main" val="10000"/>
                  </a:ext>
                </a:extLst>
              </a:tr>
              <a:tr h="1979096">
                <a:tc>
                  <a:txBody>
                    <a:bodyPr/>
                    <a:lstStyle/>
                    <a:p>
                      <a:pPr algn="l">
                        <a:lnSpc>
                          <a:spcPts val="3240"/>
                        </a:lnSpc>
                        <a:defRPr/>
                      </a:pPr>
                      <a:r>
                        <a:rPr lang="en-US" sz="2700" spc="25">
                          <a:solidFill>
                            <a:srgbClr val="000000"/>
                          </a:solidFill>
                          <a:latin typeface="TT Rounds Condensed Bold"/>
                          <a:ea typeface="TT Rounds Condensed Bold"/>
                          <a:cs typeface="TT Rounds Condensed Bold"/>
                          <a:sym typeface="TT Rounds Condensed Bold"/>
                        </a:rPr>
                        <a:t>Real-time Processing Requirements                    </a:t>
                      </a:r>
                      <a:r>
                        <a:rPr lang="en-US" sz="2700" spc="25">
                          <a:solidFill>
                            <a:srgbClr val="000000"/>
                          </a:solidFill>
                          <a:latin typeface="TT Rounds Condensed"/>
                          <a:ea typeface="TT Rounds Condensed"/>
                          <a:cs typeface="TT Rounds Condensed"/>
                          <a:sym typeface="TT Rounds Condensed"/>
                        </a:rPr>
                        <a:t>Driver assistance systems demand low latency for timely decision-making and warnings.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tc>
                  <a:txBody>
                    <a:bodyPr/>
                    <a:lstStyle/>
                    <a:p>
                      <a:pPr marL="325755" lvl="1" indent="-162877" algn="l">
                        <a:lnSpc>
                          <a:spcPts val="3240"/>
                        </a:lnSpc>
                        <a:buFont typeface="Arial"/>
                        <a:buChar char="•"/>
                        <a:defRPr/>
                      </a:pPr>
                      <a:r>
                        <a:rPr lang="en-US" sz="2700" spc="25">
                          <a:solidFill>
                            <a:srgbClr val="000000"/>
                          </a:solidFill>
                          <a:latin typeface="TT Rounds Condensed"/>
                          <a:ea typeface="TT Rounds Condensed"/>
                          <a:cs typeface="TT Rounds Condensed"/>
                          <a:sym typeface="TT Rounds Condensed"/>
                        </a:rPr>
                        <a:t>Optimize algorithms for faster processing on the Jetson. </a:t>
                      </a:r>
                      <a:endParaRPr lang="en-US" sz="1100"/>
                    </a:p>
                    <a:p>
                      <a:pPr marL="325755" lvl="1" indent="-162877" algn="l">
                        <a:lnSpc>
                          <a:spcPts val="3240"/>
                        </a:lnSpc>
                        <a:buFont typeface="Arial"/>
                        <a:buChar char="•"/>
                      </a:pPr>
                      <a:r>
                        <a:rPr lang="en-US" sz="2700" spc="25">
                          <a:solidFill>
                            <a:srgbClr val="000000"/>
                          </a:solidFill>
                          <a:latin typeface="TT Rounds Condensed"/>
                          <a:ea typeface="TT Rounds Condensed"/>
                          <a:cs typeface="TT Rounds Condensed"/>
                          <a:sym typeface="TT Rounds Condensed"/>
                        </a:rPr>
                        <a:t>Utilize efficient data structures and memory management techniques.   </a:t>
                      </a:r>
                    </a:p>
                    <a:p>
                      <a:pPr marL="325755" lvl="1" indent="-162877" algn="l">
                        <a:lnSpc>
                          <a:spcPts val="3240"/>
                        </a:lnSpc>
                        <a:buFont typeface="Arial"/>
                        <a:buChar char="•"/>
                      </a:pPr>
                      <a:r>
                        <a:rPr lang="en-US" sz="2700" spc="25">
                          <a:solidFill>
                            <a:srgbClr val="000000"/>
                          </a:solidFill>
                          <a:latin typeface="TT Rounds Condensed"/>
                          <a:ea typeface="TT Rounds Condensed"/>
                          <a:cs typeface="TT Rounds Condensed"/>
                          <a:sym typeface="TT Rounds Condensed"/>
                        </a:rPr>
                        <a:t> Prioritize tasks critical for immediate driving decisions.</a:t>
                      </a: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extLst>
                  <a:ext uri="{0D108BD9-81ED-4DB2-BD59-A6C34878D82A}">
                    <a16:rowId xmlns:a16="http://schemas.microsoft.com/office/drawing/2014/main" val="10001"/>
                  </a:ext>
                </a:extLst>
              </a:tr>
              <a:tr h="2373115">
                <a:tc>
                  <a:txBody>
                    <a:bodyPr/>
                    <a:lstStyle/>
                    <a:p>
                      <a:pPr algn="l">
                        <a:lnSpc>
                          <a:spcPts val="3240"/>
                        </a:lnSpc>
                        <a:defRPr/>
                      </a:pPr>
                      <a:r>
                        <a:rPr lang="en-US" sz="2700" spc="25">
                          <a:solidFill>
                            <a:srgbClr val="000000"/>
                          </a:solidFill>
                          <a:latin typeface="TT Rounds Condensed Bold"/>
                          <a:ea typeface="TT Rounds Condensed Bold"/>
                          <a:cs typeface="TT Rounds Condensed Bold"/>
                          <a:sym typeface="TT Rounds Condensed Bold"/>
                        </a:rPr>
                        <a:t>Limited Computing Power                                  </a:t>
                      </a:r>
                      <a:r>
                        <a:rPr lang="en-US" sz="2700" spc="25">
                          <a:solidFill>
                            <a:srgbClr val="000000"/>
                          </a:solidFill>
                          <a:latin typeface="TT Rounds Condensed"/>
                          <a:ea typeface="TT Rounds Condensed"/>
                          <a:cs typeface="TT Rounds Condensed"/>
                          <a:sym typeface="TT Rounds Condensed"/>
                        </a:rPr>
                        <a:t>Jetson boards have processing limitations compared to powerful desktop GPUs.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FE8E7"/>
                    </a:solidFill>
                  </a:tcPr>
                </a:tc>
                <a:tc>
                  <a:txBody>
                    <a:bodyPr/>
                    <a:lstStyle/>
                    <a:p>
                      <a:pPr marL="325755" lvl="1" indent="-162877" algn="l">
                        <a:lnSpc>
                          <a:spcPts val="3240"/>
                        </a:lnSpc>
                        <a:buFont typeface="Arial"/>
                        <a:buChar char="•"/>
                        <a:defRPr/>
                      </a:pPr>
                      <a:r>
                        <a:rPr lang="en-US" sz="2700" spc="25">
                          <a:solidFill>
                            <a:srgbClr val="000000"/>
                          </a:solidFill>
                          <a:latin typeface="TT Rounds Condensed"/>
                          <a:ea typeface="TT Rounds Condensed"/>
                          <a:cs typeface="TT Rounds Condensed"/>
                          <a:sym typeface="TT Rounds Condensed"/>
                        </a:rPr>
                        <a:t>Optimize algorithms for real-time performance on the Jetson. </a:t>
                      </a:r>
                      <a:endParaRPr lang="en-US" sz="1100"/>
                    </a:p>
                    <a:p>
                      <a:pPr marL="325755" lvl="1" indent="-162877" algn="l">
                        <a:lnSpc>
                          <a:spcPts val="3240"/>
                        </a:lnSpc>
                        <a:buFont typeface="Arial"/>
                        <a:buChar char="•"/>
                      </a:pPr>
                      <a:r>
                        <a:rPr lang="en-US" sz="2700" spc="25">
                          <a:solidFill>
                            <a:srgbClr val="000000"/>
                          </a:solidFill>
                          <a:latin typeface="TT Rounds Condensed"/>
                          <a:ea typeface="TT Rounds Condensed"/>
                          <a:cs typeface="TT Rounds Condensed"/>
                          <a:sym typeface="TT Rounds Condensed"/>
                        </a:rPr>
                        <a:t>Utilize efficient deep learning models like YOLOv5s or TinyML models. </a:t>
                      </a:r>
                    </a:p>
                    <a:p>
                      <a:pPr marL="325755" lvl="1" indent="-162877" algn="l">
                        <a:lnSpc>
                          <a:spcPts val="3240"/>
                        </a:lnSpc>
                        <a:buFont typeface="Arial"/>
                        <a:buChar char="•"/>
                      </a:pPr>
                      <a:r>
                        <a:rPr lang="en-US" sz="2700" spc="25">
                          <a:solidFill>
                            <a:srgbClr val="000000"/>
                          </a:solidFill>
                          <a:latin typeface="TT Rounds Condensed"/>
                          <a:ea typeface="TT Rounds Condensed"/>
                          <a:cs typeface="TT Rounds Condensed"/>
                          <a:sym typeface="TT Rounds Condensed"/>
                        </a:rPr>
                        <a:t>Implement edge computing by offloading complex tasks to cloud resources when necessary.</a:t>
                      </a: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FE8E7"/>
                    </a:solidFill>
                  </a:tcPr>
                </a:tc>
                <a:extLst>
                  <a:ext uri="{0D108BD9-81ED-4DB2-BD59-A6C34878D82A}">
                    <a16:rowId xmlns:a16="http://schemas.microsoft.com/office/drawing/2014/main" val="10002"/>
                  </a:ext>
                </a:extLst>
              </a:tr>
              <a:tr h="2782929">
                <a:tc>
                  <a:txBody>
                    <a:bodyPr/>
                    <a:lstStyle/>
                    <a:p>
                      <a:pPr algn="l">
                        <a:lnSpc>
                          <a:spcPts val="3240"/>
                        </a:lnSpc>
                        <a:defRPr/>
                      </a:pPr>
                      <a:r>
                        <a:rPr lang="en-US" sz="2700" spc="25">
                          <a:solidFill>
                            <a:srgbClr val="000000"/>
                          </a:solidFill>
                          <a:latin typeface="TT Rounds Condensed Bold"/>
                          <a:ea typeface="TT Rounds Condensed Bold"/>
                          <a:cs typeface="TT Rounds Condensed Bold"/>
                          <a:sym typeface="TT Rounds Condensed Bold"/>
                        </a:rPr>
                        <a:t>Sensor Fusion Complexity-                       </a:t>
                      </a:r>
                      <a:r>
                        <a:rPr lang="en-US" sz="2700" spc="25">
                          <a:solidFill>
                            <a:srgbClr val="000000"/>
                          </a:solidFill>
                          <a:latin typeface="TT Rounds Condensed"/>
                          <a:ea typeface="TT Rounds Condensed"/>
                          <a:cs typeface="TT Rounds Condensed"/>
                          <a:sym typeface="TT Rounds Condensed"/>
                        </a:rPr>
                        <a:t>Integrating data from diverse sensors like cameras, radar, and LiDAR requires robust algorithms and calibration.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tc>
                  <a:txBody>
                    <a:bodyPr/>
                    <a:lstStyle/>
                    <a:p>
                      <a:pPr marL="325755" lvl="1" indent="-162877" algn="l">
                        <a:lnSpc>
                          <a:spcPts val="3240"/>
                        </a:lnSpc>
                        <a:buFont typeface="Arial"/>
                        <a:buChar char="•"/>
                        <a:defRPr/>
                      </a:pPr>
                      <a:r>
                        <a:rPr lang="en-US" sz="2700" spc="25">
                          <a:solidFill>
                            <a:srgbClr val="000000"/>
                          </a:solidFill>
                          <a:latin typeface="TT Rounds Condensed"/>
                          <a:ea typeface="TT Rounds Condensed"/>
                          <a:cs typeface="TT Rounds Condensed"/>
                          <a:sym typeface="TT Rounds Condensed"/>
                        </a:rPr>
                        <a:t>Develop reliable sensor fusion algorithms that account for different sensor characteristics and data formats.</a:t>
                      </a:r>
                      <a:endParaRPr lang="en-US" sz="1100"/>
                    </a:p>
                    <a:p>
                      <a:pPr marL="325755" lvl="1" indent="-162877" algn="l">
                        <a:lnSpc>
                          <a:spcPts val="3240"/>
                        </a:lnSpc>
                        <a:buFont typeface="Arial"/>
                        <a:buChar char="•"/>
                      </a:pPr>
                      <a:r>
                        <a:rPr lang="en-US" sz="2700" spc="25">
                          <a:solidFill>
                            <a:srgbClr val="000000"/>
                          </a:solidFill>
                          <a:latin typeface="TT Rounds Condensed"/>
                          <a:ea typeface="TT Rounds Condensed"/>
                          <a:cs typeface="TT Rounds Condensed"/>
                          <a:sym typeface="TT Rounds Condensed"/>
                        </a:rPr>
                        <a:t>Employ calibration techniques to ensure accurate spatial alignment and timing between sensors. </a:t>
                      </a:r>
                    </a:p>
                    <a:p>
                      <a:pPr marL="325755" lvl="1" indent="-162877" algn="l">
                        <a:lnSpc>
                          <a:spcPts val="3240"/>
                        </a:lnSpc>
                        <a:buFont typeface="Arial"/>
                        <a:buChar char="•"/>
                      </a:pPr>
                      <a:r>
                        <a:rPr lang="en-US" sz="2700" spc="25">
                          <a:solidFill>
                            <a:srgbClr val="000000"/>
                          </a:solidFill>
                          <a:latin typeface="TT Rounds Condensed"/>
                          <a:ea typeface="TT Rounds Condensed"/>
                          <a:cs typeface="TT Rounds Condensed"/>
                          <a:sym typeface="TT Rounds Condensed"/>
                        </a:rPr>
                        <a:t>Leverage sensor-specific libraries and frameworks like OpenCV for camera data processing.</a:t>
                      </a: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ECDCC"/>
                    </a:solidFill>
                  </a:tcPr>
                </a:tc>
                <a:extLst>
                  <a:ext uri="{0D108BD9-81ED-4DB2-BD59-A6C34878D82A}">
                    <a16:rowId xmlns:a16="http://schemas.microsoft.com/office/drawing/2014/main" val="10003"/>
                  </a:ext>
                </a:extLst>
              </a:tr>
            </a:tbl>
          </a:graphicData>
        </a:graphic>
      </p:graphicFrame>
      <p:sp>
        <p:nvSpPr>
          <p:cNvPr id="16" name="TextBox 16"/>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20</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 y="9601200"/>
            <a:ext cx="18288000" cy="685800"/>
            <a:chOff x="0" y="0"/>
            <a:chExt cx="24384000" cy="914400"/>
          </a:xfrm>
        </p:grpSpPr>
        <p:sp>
          <p:nvSpPr>
            <p:cNvPr id="3" name="Freeform 3"/>
            <p:cNvSpPr/>
            <p:nvPr/>
          </p:nvSpPr>
          <p:spPr>
            <a:xfrm>
              <a:off x="0" y="0"/>
              <a:ext cx="24384000" cy="914400"/>
            </a:xfrm>
            <a:custGeom>
              <a:avLst/>
              <a:gdLst/>
              <a:ahLst/>
              <a:cxnLst/>
              <a:rect l="l" t="t" r="r" b="b"/>
              <a:pathLst>
                <a:path w="24384000" h="914400">
                  <a:moveTo>
                    <a:pt x="0" y="0"/>
                  </a:moveTo>
                  <a:lnTo>
                    <a:pt x="24384000" y="0"/>
                  </a:lnTo>
                  <a:lnTo>
                    <a:pt x="24384000" y="914400"/>
                  </a:lnTo>
                  <a:lnTo>
                    <a:pt x="0" y="914400"/>
                  </a:lnTo>
                  <a:close/>
                </a:path>
              </a:pathLst>
            </a:custGeom>
            <a:solidFill>
              <a:srgbClr val="9B2D1F"/>
            </a:solidFill>
          </p:spPr>
        </p:sp>
      </p:grpSp>
      <p:grpSp>
        <p:nvGrpSpPr>
          <p:cNvPr id="4" name="Group 4"/>
          <p:cNvGrpSpPr/>
          <p:nvPr/>
        </p:nvGrpSpPr>
        <p:grpSpPr>
          <a:xfrm>
            <a:off x="23" y="9501474"/>
            <a:ext cx="18287978" cy="99726"/>
            <a:chOff x="0" y="0"/>
            <a:chExt cx="24383971" cy="132968"/>
          </a:xfrm>
        </p:grpSpPr>
        <p:sp>
          <p:nvSpPr>
            <p:cNvPr id="5" name="Freeform 5"/>
            <p:cNvSpPr/>
            <p:nvPr/>
          </p:nvSpPr>
          <p:spPr>
            <a:xfrm>
              <a:off x="0" y="0"/>
              <a:ext cx="24384000" cy="132969"/>
            </a:xfrm>
            <a:custGeom>
              <a:avLst/>
              <a:gdLst/>
              <a:ahLst/>
              <a:cxnLst/>
              <a:rect l="l" t="t" r="r" b="b"/>
              <a:pathLst>
                <a:path w="24384000" h="132969">
                  <a:moveTo>
                    <a:pt x="0" y="0"/>
                  </a:moveTo>
                  <a:lnTo>
                    <a:pt x="24384000" y="0"/>
                  </a:lnTo>
                  <a:lnTo>
                    <a:pt x="24384000" y="132969"/>
                  </a:lnTo>
                  <a:lnTo>
                    <a:pt x="0" y="132969"/>
                  </a:lnTo>
                  <a:close/>
                </a:path>
              </a:pathLst>
            </a:custGeom>
            <a:solidFill>
              <a:srgbClr val="D34817"/>
            </a:solidFill>
          </p:spPr>
        </p:sp>
      </p:grpSp>
      <p:sp>
        <p:nvSpPr>
          <p:cNvPr id="6" name="AutoShape 6"/>
          <p:cNvSpPr/>
          <p:nvPr/>
        </p:nvSpPr>
        <p:spPr>
          <a:xfrm rot="1459">
            <a:off x="1787122" y="2606768"/>
            <a:ext cx="14956791" cy="0"/>
          </a:xfrm>
          <a:prstGeom prst="line">
            <a:avLst/>
          </a:prstGeom>
          <a:ln w="9525" cap="rnd">
            <a:solidFill>
              <a:srgbClr val="000000"/>
            </a:solidFill>
            <a:prstDash val="solid"/>
            <a:headEnd type="none" w="sm" len="sm"/>
            <a:tailEnd type="none" w="sm" len="sm"/>
          </a:ln>
        </p:spPr>
      </p:sp>
      <p:grpSp>
        <p:nvGrpSpPr>
          <p:cNvPr id="7" name="Group 7"/>
          <p:cNvGrpSpPr/>
          <p:nvPr/>
        </p:nvGrpSpPr>
        <p:grpSpPr>
          <a:xfrm>
            <a:off x="4763" y="9601200"/>
            <a:ext cx="18283238" cy="685800"/>
            <a:chOff x="0" y="0"/>
            <a:chExt cx="24377651" cy="914400"/>
          </a:xfrm>
        </p:grpSpPr>
        <p:sp>
          <p:nvSpPr>
            <p:cNvPr id="8" name="Freeform 8"/>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9B2D1F"/>
            </a:solidFill>
          </p:spPr>
        </p:sp>
      </p:grpSp>
      <p:grpSp>
        <p:nvGrpSpPr>
          <p:cNvPr id="9" name="Group 9"/>
          <p:cNvGrpSpPr/>
          <p:nvPr/>
        </p:nvGrpSpPr>
        <p:grpSpPr>
          <a:xfrm>
            <a:off x="23" y="9501474"/>
            <a:ext cx="18283238" cy="96012"/>
            <a:chOff x="0" y="0"/>
            <a:chExt cx="24377651" cy="128016"/>
          </a:xfrm>
        </p:grpSpPr>
        <p:sp>
          <p:nvSpPr>
            <p:cNvPr id="10" name="Freeform 10"/>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D34817"/>
            </a:solidFill>
          </p:spPr>
        </p:sp>
      </p:grpSp>
      <p:sp>
        <p:nvSpPr>
          <p:cNvPr id="11" name="Freeform 11"/>
          <p:cNvSpPr/>
          <p:nvPr/>
        </p:nvSpPr>
        <p:spPr>
          <a:xfrm>
            <a:off x="9577058" y="5780342"/>
            <a:ext cx="3673702" cy="3503822"/>
          </a:xfrm>
          <a:custGeom>
            <a:avLst/>
            <a:gdLst/>
            <a:ahLst/>
            <a:cxnLst/>
            <a:rect l="l" t="t" r="r" b="b"/>
            <a:pathLst>
              <a:path w="3673702" h="3503822">
                <a:moveTo>
                  <a:pt x="0" y="0"/>
                </a:moveTo>
                <a:lnTo>
                  <a:pt x="3673702" y="0"/>
                </a:lnTo>
                <a:lnTo>
                  <a:pt x="3673702" y="3503821"/>
                </a:lnTo>
                <a:lnTo>
                  <a:pt x="0" y="350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0980263" y="877904"/>
            <a:ext cx="2716795" cy="2576441"/>
          </a:xfrm>
          <a:custGeom>
            <a:avLst/>
            <a:gdLst/>
            <a:ahLst/>
            <a:cxnLst/>
            <a:rect l="l" t="t" r="r" b="b"/>
            <a:pathLst>
              <a:path w="2716795" h="2576441">
                <a:moveTo>
                  <a:pt x="0" y="0"/>
                </a:moveTo>
                <a:lnTo>
                  <a:pt x="2716795" y="0"/>
                </a:lnTo>
                <a:lnTo>
                  <a:pt x="2716795" y="2576441"/>
                </a:lnTo>
                <a:lnTo>
                  <a:pt x="0" y="25764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6372760" y="5953077"/>
            <a:ext cx="1773080" cy="1681479"/>
          </a:xfrm>
          <a:custGeom>
            <a:avLst/>
            <a:gdLst/>
            <a:ahLst/>
            <a:cxnLst/>
            <a:rect l="l" t="t" r="r" b="b"/>
            <a:pathLst>
              <a:path w="1773080" h="1681479">
                <a:moveTo>
                  <a:pt x="0" y="0"/>
                </a:moveTo>
                <a:lnTo>
                  <a:pt x="1773080" y="0"/>
                </a:lnTo>
                <a:lnTo>
                  <a:pt x="1773080" y="1681479"/>
                </a:lnTo>
                <a:lnTo>
                  <a:pt x="0" y="16814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4" name="Group 14"/>
          <p:cNvGrpSpPr/>
          <p:nvPr/>
        </p:nvGrpSpPr>
        <p:grpSpPr>
          <a:xfrm>
            <a:off x="9545543" y="1548475"/>
            <a:ext cx="8303030" cy="7190050"/>
            <a:chOff x="0" y="0"/>
            <a:chExt cx="11070707" cy="9586733"/>
          </a:xfrm>
        </p:grpSpPr>
        <p:sp>
          <p:nvSpPr>
            <p:cNvPr id="15" name="Freeform 15"/>
            <p:cNvSpPr/>
            <p:nvPr/>
          </p:nvSpPr>
          <p:spPr>
            <a:xfrm>
              <a:off x="0" y="0"/>
              <a:ext cx="11070717" cy="9586722"/>
            </a:xfrm>
            <a:custGeom>
              <a:avLst/>
              <a:gdLst/>
              <a:ahLst/>
              <a:cxnLst/>
              <a:rect l="l" t="t" r="r" b="b"/>
              <a:pathLst>
                <a:path w="11070717" h="9586722">
                  <a:moveTo>
                    <a:pt x="8303006" y="0"/>
                  </a:moveTo>
                  <a:lnTo>
                    <a:pt x="2767711" y="0"/>
                  </a:lnTo>
                  <a:lnTo>
                    <a:pt x="0" y="4793361"/>
                  </a:lnTo>
                  <a:lnTo>
                    <a:pt x="2767711" y="9586722"/>
                  </a:lnTo>
                  <a:lnTo>
                    <a:pt x="8303006" y="9586722"/>
                  </a:lnTo>
                  <a:lnTo>
                    <a:pt x="11070717" y="4793361"/>
                  </a:lnTo>
                  <a:close/>
                </a:path>
              </a:pathLst>
            </a:custGeom>
            <a:blipFill>
              <a:blip r:embed="rId8"/>
              <a:stretch>
                <a:fillRect l="-14946" r="-14946"/>
              </a:stretch>
            </a:blipFill>
          </p:spPr>
        </p:sp>
      </p:grpSp>
      <p:sp>
        <p:nvSpPr>
          <p:cNvPr id="16" name="TextBox 16"/>
          <p:cNvSpPr txBox="1"/>
          <p:nvPr/>
        </p:nvSpPr>
        <p:spPr>
          <a:xfrm>
            <a:off x="2292740" y="2222736"/>
            <a:ext cx="12185259" cy="2929250"/>
          </a:xfrm>
          <a:prstGeom prst="rect">
            <a:avLst/>
          </a:prstGeom>
        </p:spPr>
        <p:txBody>
          <a:bodyPr lIns="0" tIns="0" rIns="0" bIns="0" rtlCol="0" anchor="t">
            <a:spAutoFit/>
          </a:bodyPr>
          <a:lstStyle/>
          <a:p>
            <a:pPr algn="l">
              <a:lnSpc>
                <a:spcPts val="17962"/>
              </a:lnSpc>
            </a:pPr>
            <a:r>
              <a:rPr lang="en-US" sz="8000">
                <a:solidFill>
                  <a:srgbClr val="000000"/>
                </a:solidFill>
                <a:latin typeface="Arimo"/>
                <a:ea typeface="Arimo"/>
                <a:cs typeface="Arimo"/>
                <a:sym typeface="Arimo"/>
              </a:rPr>
              <a:t>THANK</a:t>
            </a:r>
          </a:p>
        </p:txBody>
      </p:sp>
      <p:sp>
        <p:nvSpPr>
          <p:cNvPr id="17" name="TextBox 17"/>
          <p:cNvSpPr txBox="1"/>
          <p:nvPr/>
        </p:nvSpPr>
        <p:spPr>
          <a:xfrm>
            <a:off x="2292740" y="4627134"/>
            <a:ext cx="10512487" cy="2607954"/>
          </a:xfrm>
          <a:prstGeom prst="rect">
            <a:avLst/>
          </a:prstGeom>
        </p:spPr>
        <p:txBody>
          <a:bodyPr lIns="0" tIns="0" rIns="0" bIns="0" rtlCol="0" anchor="t">
            <a:spAutoFit/>
          </a:bodyPr>
          <a:lstStyle/>
          <a:p>
            <a:pPr algn="l">
              <a:lnSpc>
                <a:spcPts val="19863"/>
              </a:lnSpc>
            </a:pPr>
            <a:r>
              <a:rPr lang="en-US" sz="14188">
                <a:solidFill>
                  <a:srgbClr val="CD0505"/>
                </a:solidFill>
                <a:latin typeface="Trebuchet MS"/>
                <a:ea typeface="Trebuchet MS"/>
                <a:cs typeface="Trebuchet MS"/>
                <a:sym typeface="Trebuchet MS"/>
              </a:rPr>
              <a:t>YOU!</a:t>
            </a:r>
          </a:p>
        </p:txBody>
      </p:sp>
      <p:sp>
        <p:nvSpPr>
          <p:cNvPr id="18" name="Freeform 18"/>
          <p:cNvSpPr/>
          <p:nvPr/>
        </p:nvSpPr>
        <p:spPr>
          <a:xfrm>
            <a:off x="16331863" y="1507578"/>
            <a:ext cx="779769" cy="743711"/>
          </a:xfrm>
          <a:custGeom>
            <a:avLst/>
            <a:gdLst/>
            <a:ahLst/>
            <a:cxnLst/>
            <a:rect l="l" t="t" r="r" b="b"/>
            <a:pathLst>
              <a:path w="779769" h="743711">
                <a:moveTo>
                  <a:pt x="0" y="0"/>
                </a:moveTo>
                <a:lnTo>
                  <a:pt x="779769" y="0"/>
                </a:lnTo>
                <a:lnTo>
                  <a:pt x="779769" y="743711"/>
                </a:lnTo>
                <a:lnTo>
                  <a:pt x="0" y="7437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Freeform 19"/>
          <p:cNvSpPr/>
          <p:nvPr/>
        </p:nvSpPr>
        <p:spPr>
          <a:xfrm>
            <a:off x="16514920" y="8032601"/>
            <a:ext cx="744380" cy="705924"/>
          </a:xfrm>
          <a:custGeom>
            <a:avLst/>
            <a:gdLst/>
            <a:ahLst/>
            <a:cxnLst/>
            <a:rect l="l" t="t" r="r" b="b"/>
            <a:pathLst>
              <a:path w="744380" h="705924">
                <a:moveTo>
                  <a:pt x="0" y="0"/>
                </a:moveTo>
                <a:lnTo>
                  <a:pt x="744380" y="0"/>
                </a:lnTo>
                <a:lnTo>
                  <a:pt x="744380" y="705924"/>
                </a:lnTo>
                <a:lnTo>
                  <a:pt x="0" y="7059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TextBox 20"/>
          <p:cNvSpPr txBox="1"/>
          <p:nvPr/>
        </p:nvSpPr>
        <p:spPr>
          <a:xfrm>
            <a:off x="15860" y="9747945"/>
            <a:ext cx="18180700" cy="493335"/>
          </a:xfrm>
          <a:prstGeom prst="rect">
            <a:avLst/>
          </a:prstGeom>
        </p:spPr>
        <p:txBody>
          <a:bodyPr lIns="0" tIns="0" rIns="0" bIns="0" rtlCol="0" anchor="t">
            <a:spAutoFit/>
          </a:bodyPr>
          <a:lstStyle/>
          <a:p>
            <a:pPr algn="l">
              <a:lnSpc>
                <a:spcPts val="3840"/>
              </a:lnSpc>
            </a:pPr>
            <a:r>
              <a:rPr lang="en-US" sz="3200" spc="29">
                <a:solidFill>
                  <a:srgbClr val="FFFFFF"/>
                </a:solidFill>
                <a:latin typeface="TT Rounds Condensed"/>
                <a:ea typeface="TT Rounds Condensed"/>
                <a:cs typeface="TT Rounds Condensed"/>
                <a:sym typeface="TT Rounds Condensed"/>
              </a:rPr>
              <a:t>DEVELOPING DRIVER ASSISTIVE TECHNOLOGY USING NVIDIA JETSON DEVELOPMENT BOARD					22</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1813</Words>
  <Application>Microsoft Office PowerPoint</Application>
  <PresentationFormat>Custom</PresentationFormat>
  <Paragraphs>283</Paragraphs>
  <Slides>20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Arimo</vt:lpstr>
      <vt:lpstr>Times New Roman</vt:lpstr>
      <vt:lpstr>TT Rounds Condensed</vt:lpstr>
      <vt:lpstr>Arimo Bold</vt:lpstr>
      <vt:lpstr>Arial</vt:lpstr>
      <vt:lpstr>Trebuchet MS</vt:lpstr>
      <vt:lpstr>Archivo Black</vt:lpstr>
      <vt:lpstr>Calibri</vt:lpstr>
      <vt:lpstr>TT Rounds Condensed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2018E042_2019E110_DEVELOPING DRIVE ASSITIVE TECHNOLOGY _7thsem_end.pptx</dc:title>
  <cp:lastModifiedBy>User</cp:lastModifiedBy>
  <cp:revision>5</cp:revision>
  <dcterms:created xsi:type="dcterms:W3CDTF">2006-08-16T00:00:00Z</dcterms:created>
  <dcterms:modified xsi:type="dcterms:W3CDTF">2024-08-14T00:42:44Z</dcterms:modified>
  <dc:identifier>DAGNtZZTXBc</dc:identifier>
</cp:coreProperties>
</file>